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type="screen16x9" cy="6858000" cx="12192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B7708F"/>
    <a:srgbClr val="F2A384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3220" autoAdjust="0"/>
  </p:normalViewPr>
  <p:slideViewPr>
    <p:cSldViewPr snapToGrid="0" snapToObjects="1">
      <p:cViewPr varScale="1">
        <p:scale>
          <a:sx n="66" d="100"/>
          <a:sy n="66" d="100"/>
        </p:scale>
        <p:origin x="8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/Relationships>
</file>

<file path=ppt/charts/_rels/chart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1.xlsx"/></Relationships>
</file>

<file path=ppt/charts/_rels/chart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Office_Excel_2007_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F593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Blood donor</c:v>
                </c:pt>
                <c:pt idx="1">
                  <c:v>Cirrhosis</c:v>
                </c:pt>
                <c:pt idx="2">
                  <c:v>Hepatitis</c:v>
                </c:pt>
                <c:pt idx="3">
                  <c:v>Fibrosis</c:v>
                </c:pt>
                <c:pt idx="4">
                  <c:v>Suspected donor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533.0</c:v>
                </c:pt>
                <c:pt idx="1">
                  <c:v>30.0</c:v>
                </c:pt>
                <c:pt idx="2">
                  <c:v>24.0</c:v>
                </c:pt>
                <c:pt idx="3">
                  <c:v>21.0</c:v>
                </c:pt>
                <c:pt idx="4">
                  <c:v>7.0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100.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>
                <a:solidFill>
                  <a:srgbClr val="16432E"/>
                </a:solidFill>
              </a:rPr>
              <a:t>Laboratory Trends Across Disease Progression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ALB</c:v>
                </c:pt>
              </c:strCache>
            </c:strRef>
          </c:tx>
          <c:spPr>
            <a:solidFill>
              <a:srgbClr val="1F59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Hepatitis</c:v>
                </c:pt>
                <c:pt idx="1">
                  <c:v>Fibrosis</c:v>
                </c:pt>
                <c:pt idx="2">
                  <c:v>Cirrhosis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43.8</c:v>
                </c:pt>
                <c:pt idx="1">
                  <c:v>41.8</c:v>
                </c:pt>
                <c:pt idx="2">
                  <c:v>32.8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>
                  <a:solidFill>
                    <a:srgbClr val="FFFFFF"/>
                  </a:solidFill>
                </c14:spPr>
              </c14:invertSolidFillFmt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ALT</c:v>
                </c:pt>
              </c:strCache>
            </c:strRef>
          </c:tx>
          <c:spPr>
            <a:solidFill>
              <a:srgbClr val="F2A384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Hepatitis</c:v>
                </c:pt>
                <c:pt idx="1">
                  <c:v>Fibrosis</c:v>
                </c:pt>
                <c:pt idx="2">
                  <c:v>Cirrhosis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26.7</c:v>
                </c:pt>
                <c:pt idx="1">
                  <c:v>59.6</c:v>
                </c:pt>
                <c:pt idx="2">
                  <c:v>23.0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>
                  <a:solidFill>
                    <a:srgbClr val="FFFFFF"/>
                  </a:solidFill>
                </c14:spPr>
              </c14:invertSolidFillFmt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AST</c:v>
                </c:pt>
              </c:strCache>
            </c:strRef>
          </c:tx>
          <c:spPr>
            <a:solidFill>
              <a:srgbClr val="B7708F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Hepatitis</c:v>
                </c:pt>
                <c:pt idx="1">
                  <c:v>Fibrosis</c:v>
                </c:pt>
                <c:pt idx="2">
                  <c:v>Cirrhosis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75.7</c:v>
                </c:pt>
                <c:pt idx="1">
                  <c:v>81.2</c:v>
                </c:pt>
                <c:pt idx="2">
                  <c:v>107.5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>
                  <a:solidFill>
                    <a:srgbClr val="FFFFFF"/>
                  </a:solidFill>
                </c14:spPr>
              </c14:invertSolidFillFmt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BIL</c:v>
                </c:pt>
              </c:strCache>
            </c:strRef>
          </c:tx>
          <c:spPr>
            <a:solidFill>
              <a:srgbClr val="1F593D"/>
            </a:solidFill>
          </c:spPr>
          <c:invertIfNegative val="1"/>
          <c:cat>
            <c:strRef>
              <c:f>Sheet1!$A$2:$A$4</c:f>
              <c:strCache>
                <c:ptCount val="3"/>
                <c:pt idx="0">
                  <c:v>Hepatitis</c:v>
                </c:pt>
                <c:pt idx="1">
                  <c:v>Fibrosis</c:v>
                </c:pt>
                <c:pt idx="2">
                  <c:v>Cirrhosis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15.6</c:v>
                </c:pt>
                <c:pt idx="1">
                  <c:v>13.4</c:v>
                </c:pt>
                <c:pt idx="2">
                  <c:v>59.1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>
                  <a:solidFill>
                    <a:srgbClr val="FFFFFF"/>
                  </a:solidFill>
                </c14:spPr>
              </c14:invertSolidFillFmt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.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  <c:majorUnit val="20.0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4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84CDE4B-169A-4B87-9250-0D7726CA7D06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48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94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5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EF9B8883-A98B-43EC-8147-777A76A1F249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8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8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EF9B8883-A98B-43EC-8147-777A76A1F24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9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8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5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906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22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927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28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2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3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3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93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3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3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3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3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89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898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89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0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41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42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4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4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4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0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11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912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1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1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91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0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/>
              <a:t>Click to edit Master title style</a:t>
            </a:r>
          </a:p>
        </p:txBody>
      </p:sp>
      <p:sp>
        <p:nvSpPr>
          <p:cNvPr id="1048901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9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9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0"/>
        </a:solidFill>
        <a:effectLst/>
      </p:bgPr>
    </p:bg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Rectangle 1"/>
          <p:cNvSpPr/>
          <p:nvPr/>
        </p:nvSpPr>
        <p:spPr>
          <a:xfrm>
            <a:off x="0" y="0"/>
            <a:ext cx="4572000" cy="6858000"/>
          </a:xfrm>
          <a:prstGeom prst="rect"/>
          <a:solidFill>
            <a:srgbClr val="164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9" name="TextBox 2"/>
          <p:cNvSpPr txBox="1"/>
          <p:nvPr/>
        </p:nvSpPr>
        <p:spPr>
          <a:xfrm>
            <a:off x="640080" y="1127761"/>
            <a:ext cx="2339351" cy="6248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3600">
                <a:solidFill>
                  <a:srgbClr val="FFFFFF"/>
                </a:solidFill>
                <a:latin typeface="Aptos"/>
              </a:rPr>
              <a:t>HEPATITIS</a:t>
            </a:r>
          </a:p>
        </p:txBody>
      </p:sp>
      <p:sp>
        <p:nvSpPr>
          <p:cNvPr id="1048720" name="TextBox 3"/>
          <p:cNvSpPr txBox="1"/>
          <p:nvPr/>
        </p:nvSpPr>
        <p:spPr>
          <a:xfrm>
            <a:off x="640080" y="1790699"/>
            <a:ext cx="3326131" cy="3962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000">
                <a:solidFill>
                  <a:srgbClr val="F2A384"/>
                </a:solidFill>
                <a:latin typeface="Aptos"/>
              </a:rPr>
              <a:t>DATA ANALYTICS PROJECT</a:t>
            </a:r>
          </a:p>
        </p:txBody>
      </p:sp>
      <p:sp>
        <p:nvSpPr>
          <p:cNvPr id="1048721" name="TextBox 4"/>
          <p:cNvSpPr txBox="1"/>
          <p:nvPr/>
        </p:nvSpPr>
        <p:spPr>
          <a:xfrm>
            <a:off x="520065" y="2926080"/>
            <a:ext cx="3897630" cy="584775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600">
                <a:solidFill>
                  <a:srgbClr val="FFFFFF"/>
                </a:solidFill>
                <a:latin typeface="Aptos"/>
              </a:rPr>
              <a:t>Patient distribution, disease progression
and laboratory patterns</a:t>
            </a:r>
          </a:p>
        </p:txBody>
      </p:sp>
      <p:sp>
        <p:nvSpPr>
          <p:cNvPr id="1048722" name="Rounded Rectangle 5"/>
          <p:cNvSpPr/>
          <p:nvPr/>
        </p:nvSpPr>
        <p:spPr>
          <a:xfrm>
            <a:off x="640080" y="5120640"/>
            <a:ext cx="2880360" cy="438912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3" name="TextBox 6"/>
          <p:cNvSpPr txBox="1"/>
          <p:nvPr/>
        </p:nvSpPr>
        <p:spPr>
          <a:xfrm>
            <a:off x="640080" y="5224524"/>
            <a:ext cx="1943269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POWER BI ANALYTICS REPORT</a:t>
            </a:r>
          </a:p>
        </p:txBody>
      </p:sp>
      <p:sp>
        <p:nvSpPr>
          <p:cNvPr id="1048724" name="TextBox 7"/>
          <p:cNvSpPr txBox="1"/>
          <p:nvPr/>
        </p:nvSpPr>
        <p:spPr>
          <a:xfrm>
            <a:off x="5303520" y="1562417"/>
            <a:ext cx="2505095" cy="332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600">
                <a:solidFill>
                  <a:srgbClr val="1F593D"/>
                </a:solidFill>
                <a:latin typeface="Aptos"/>
              </a:rPr>
              <a:t>Healthcare Data Analytics</a:t>
            </a:r>
          </a:p>
        </p:txBody>
      </p:sp>
      <p:sp>
        <p:nvSpPr>
          <p:cNvPr id="1048725" name="TextBox 8"/>
          <p:cNvSpPr txBox="1"/>
          <p:nvPr/>
        </p:nvSpPr>
        <p:spPr>
          <a:xfrm>
            <a:off x="5212080" y="2058478"/>
            <a:ext cx="7437457" cy="4470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400">
                <a:solidFill>
                  <a:srgbClr val="16432E"/>
                </a:solidFill>
                <a:latin typeface="Aptos"/>
              </a:rPr>
              <a:t>From patient categories to actionable clinical insights</a:t>
            </a:r>
          </a:p>
        </p:txBody>
      </p:sp>
      <p:sp>
        <p:nvSpPr>
          <p:cNvPr id="1048726" name="Oval 9"/>
          <p:cNvSpPr/>
          <p:nvPr/>
        </p:nvSpPr>
        <p:spPr>
          <a:xfrm>
            <a:off x="7315200" y="2926080"/>
            <a:ext cx="2926080" cy="2194560"/>
          </a:xfrm>
          <a:prstGeom prst="ellipse"/>
          <a:solidFill>
            <a:srgbClr val="FCE7DC"/>
          </a:solidFill>
          <a:ln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27" name="TextBox 10"/>
          <p:cNvSpPr txBox="1"/>
          <p:nvPr/>
        </p:nvSpPr>
        <p:spPr>
          <a:xfrm>
            <a:off x="7726679" y="3522980"/>
            <a:ext cx="932180" cy="726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200">
                <a:solidFill>
                  <a:srgbClr val="B7708F"/>
                </a:solidFill>
                <a:latin typeface="Aptos"/>
              </a:rPr>
              <a:t>LIVER
HEALTH</a:t>
            </a:r>
          </a:p>
        </p:txBody>
      </p:sp>
      <p:sp>
        <p:nvSpPr>
          <p:cNvPr id="1048728" name="TextBox 11"/>
          <p:cNvSpPr txBox="1"/>
          <p:nvPr/>
        </p:nvSpPr>
        <p:spPr>
          <a:xfrm>
            <a:off x="5303520" y="4899659"/>
            <a:ext cx="1592580" cy="3962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000">
                <a:solidFill>
                  <a:srgbClr val="1F593D"/>
                </a:solidFill>
                <a:latin typeface="Aptos"/>
              </a:rPr>
              <a:t>615 patients</a:t>
            </a:r>
          </a:p>
        </p:txBody>
      </p:sp>
      <p:sp>
        <p:nvSpPr>
          <p:cNvPr id="1048729" name="TextBox 12"/>
          <p:cNvSpPr txBox="1"/>
          <p:nvPr/>
        </p:nvSpPr>
        <p:spPr>
          <a:xfrm>
            <a:off x="5303520" y="5334508"/>
            <a:ext cx="2011679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dirty="0" sz="1400" lang="en-US">
                <a:solidFill>
                  <a:srgbClr val="696969"/>
                </a:solidFill>
                <a:latin typeface="Aptos"/>
              </a:rPr>
              <a:t>4</a:t>
            </a:r>
            <a:r>
              <a:rPr b="0" dirty="0" sz="1400">
                <a:solidFill>
                  <a:srgbClr val="696969"/>
                </a:solidFill>
                <a:latin typeface="Aptos"/>
              </a:rPr>
              <a:t> diagnostic categories</a:t>
            </a:r>
          </a:p>
        </p:txBody>
      </p:sp>
      <p:sp>
        <p:nvSpPr>
          <p:cNvPr id="1048730" name="TextBox 13"/>
          <p:cNvSpPr txBox="1"/>
          <p:nvPr/>
        </p:nvSpPr>
        <p:spPr>
          <a:xfrm>
            <a:off x="5303520" y="5991860"/>
            <a:ext cx="1071086" cy="2692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200">
                <a:solidFill>
                  <a:srgbClr val="696969"/>
                </a:solidFill>
                <a:latin typeface="Aptos"/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extBox 1"/>
          <p:cNvSpPr txBox="1"/>
          <p:nvPr/>
        </p:nvSpPr>
        <p:spPr>
          <a:xfrm>
            <a:off x="594360" y="316231"/>
            <a:ext cx="2847301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800">
                <a:solidFill>
                  <a:srgbClr val="16432E"/>
                </a:solidFill>
                <a:latin typeface="Aptos"/>
              </a:rPr>
              <a:t>Project Overview</a:t>
            </a:r>
          </a:p>
        </p:txBody>
      </p:sp>
      <p:sp>
        <p:nvSpPr>
          <p:cNvPr id="1048732" name="Rectangle 2"/>
          <p:cNvSpPr/>
          <p:nvPr/>
        </p:nvSpPr>
        <p:spPr>
          <a:xfrm>
            <a:off x="701230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3" name="TextBox 3"/>
          <p:cNvSpPr txBox="1"/>
          <p:nvPr/>
        </p:nvSpPr>
        <p:spPr>
          <a:xfrm>
            <a:off x="658368" y="1086657"/>
            <a:ext cx="5333722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696969"/>
                </a:solidFill>
                <a:latin typeface="Aptos"/>
              </a:rPr>
              <a:t>Using patient and laboratory data to understand disease patterns</a:t>
            </a:r>
          </a:p>
        </p:txBody>
      </p:sp>
      <p:sp>
        <p:nvSpPr>
          <p:cNvPr id="1048734" name="Rounded Rectangle 4"/>
          <p:cNvSpPr/>
          <p:nvPr/>
        </p:nvSpPr>
        <p:spPr>
          <a:xfrm>
            <a:off x="679133" y="1546260"/>
            <a:ext cx="3383280" cy="182880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5" name="TextBox 5"/>
          <p:cNvSpPr txBox="1"/>
          <p:nvPr/>
        </p:nvSpPr>
        <p:spPr>
          <a:xfrm>
            <a:off x="804671" y="1653124"/>
            <a:ext cx="1859279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BUSINESS PROBLEM</a:t>
            </a:r>
          </a:p>
        </p:txBody>
      </p:sp>
      <p:sp>
        <p:nvSpPr>
          <p:cNvPr id="1048736" name="TextBox 6"/>
          <p:cNvSpPr txBox="1"/>
          <p:nvPr/>
        </p:nvSpPr>
        <p:spPr>
          <a:xfrm>
            <a:off x="804671" y="2239602"/>
            <a:ext cx="3054096" cy="980441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200">
                <a:solidFill>
                  <a:srgbClr val="232323"/>
                </a:solidFill>
                <a:latin typeface="Aptos"/>
              </a:rPr>
              <a:t>The dataset contains multiple diagnostic categories and laboratory indicators. A structured analysis was needed to identify demographic patterns, disease progression and monitoring priorities.</a:t>
            </a:r>
          </a:p>
        </p:txBody>
      </p:sp>
      <p:sp>
        <p:nvSpPr>
          <p:cNvPr id="1048737" name="Rounded Rectangle 7"/>
          <p:cNvSpPr/>
          <p:nvPr/>
        </p:nvSpPr>
        <p:spPr>
          <a:xfrm>
            <a:off x="4366260" y="1525783"/>
            <a:ext cx="3383280" cy="1828800"/>
          </a:xfrm>
          <a:prstGeom prst="roundRect"/>
          <a:solidFill>
            <a:srgbClr val="FFFFFF"/>
          </a:solidFill>
          <a:ln w="1524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38" name="TextBox 8"/>
          <p:cNvSpPr txBox="1"/>
          <p:nvPr/>
        </p:nvSpPr>
        <p:spPr>
          <a:xfrm>
            <a:off x="4553712" y="1672506"/>
            <a:ext cx="2181741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ANALYTICAL APPROACH</a:t>
            </a:r>
          </a:p>
        </p:txBody>
      </p:sp>
      <p:sp>
        <p:nvSpPr>
          <p:cNvPr id="1048739" name="TextBox 9"/>
          <p:cNvSpPr txBox="1"/>
          <p:nvPr/>
        </p:nvSpPr>
        <p:spPr>
          <a:xfrm>
            <a:off x="4603860" y="2274443"/>
            <a:ext cx="3003948" cy="802641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200">
                <a:solidFill>
                  <a:srgbClr val="232323"/>
                </a:solidFill>
                <a:latin typeface="Aptos"/>
              </a:rPr>
              <a:t>Data cleaning and </a:t>
            </a:r>
            <a:r>
              <a:rPr dirty="0" sz="1200" lang="en-US">
                <a:solidFill>
                  <a:srgbClr val="232323"/>
                </a:solidFill>
                <a:latin typeface="Aptos"/>
              </a:rPr>
              <a:t>preparation</a:t>
            </a:r>
            <a:r>
              <a:rPr b="0" dirty="0" sz="1200" lang="en-US">
                <a:solidFill>
                  <a:srgbClr val="232323"/>
                </a:solidFill>
                <a:latin typeface="Aptos"/>
              </a:rPr>
              <a:t> done in Microsoft Excel</a:t>
            </a:r>
            <a:r>
              <a:rPr b="0" dirty="0" sz="1200">
                <a:solidFill>
                  <a:srgbClr val="232323"/>
                </a:solidFill>
                <a:latin typeface="Aptos"/>
              </a:rPr>
              <a:t> followed by Power BI modelling, DAX measures and interactive dashboard visualization.</a:t>
            </a:r>
          </a:p>
        </p:txBody>
      </p:sp>
      <p:sp>
        <p:nvSpPr>
          <p:cNvPr id="1048740" name="Rounded Rectangle 10"/>
          <p:cNvSpPr/>
          <p:nvPr/>
        </p:nvSpPr>
        <p:spPr>
          <a:xfrm>
            <a:off x="8071675" y="1546260"/>
            <a:ext cx="3383280" cy="182880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1" name="TextBox 11"/>
          <p:cNvSpPr txBox="1"/>
          <p:nvPr/>
        </p:nvSpPr>
        <p:spPr>
          <a:xfrm>
            <a:off x="8333233" y="1612900"/>
            <a:ext cx="1591587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INTENDED VALUE</a:t>
            </a:r>
          </a:p>
        </p:txBody>
      </p:sp>
      <p:sp>
        <p:nvSpPr>
          <p:cNvPr id="1048742" name="TextBox 12"/>
          <p:cNvSpPr txBox="1"/>
          <p:nvPr/>
        </p:nvSpPr>
        <p:spPr>
          <a:xfrm>
            <a:off x="8302752" y="2204720"/>
            <a:ext cx="3054096" cy="80263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200">
                <a:solidFill>
                  <a:srgbClr val="232323"/>
                </a:solidFill>
                <a:latin typeface="Aptos"/>
              </a:rPr>
              <a:t>Translate patient and laboratory patterns into concise findings that can support targeted monitoring and timely clinical attention.</a:t>
            </a:r>
          </a:p>
        </p:txBody>
      </p:sp>
      <p:sp>
        <p:nvSpPr>
          <p:cNvPr id="1048743" name="TextBox 13"/>
          <p:cNvSpPr txBox="1"/>
          <p:nvPr/>
        </p:nvSpPr>
        <p:spPr>
          <a:xfrm>
            <a:off x="658368" y="3751579"/>
            <a:ext cx="1407537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ANALYTICS FLOW</a:t>
            </a:r>
          </a:p>
        </p:txBody>
      </p:sp>
      <p:sp>
        <p:nvSpPr>
          <p:cNvPr id="1048744" name="Rounded Rectangle 14"/>
          <p:cNvSpPr/>
          <p:nvPr/>
        </p:nvSpPr>
        <p:spPr>
          <a:xfrm>
            <a:off x="685800" y="4251960"/>
            <a:ext cx="502920" cy="384048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5" name="TextBox 15"/>
          <p:cNvSpPr txBox="1"/>
          <p:nvPr/>
        </p:nvSpPr>
        <p:spPr>
          <a:xfrm>
            <a:off x="685800" y="4328413"/>
            <a:ext cx="335281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48746" name="TextBox 16"/>
          <p:cNvSpPr txBox="1"/>
          <p:nvPr/>
        </p:nvSpPr>
        <p:spPr>
          <a:xfrm>
            <a:off x="1344168" y="4184142"/>
            <a:ext cx="583526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DATA</a:t>
            </a:r>
          </a:p>
        </p:txBody>
      </p:sp>
      <p:sp>
        <p:nvSpPr>
          <p:cNvPr id="1048747" name="TextBox 17"/>
          <p:cNvSpPr txBox="1"/>
          <p:nvPr/>
        </p:nvSpPr>
        <p:spPr>
          <a:xfrm>
            <a:off x="1344168" y="4552835"/>
            <a:ext cx="1371600" cy="27699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dirty="0" sz="1050">
                <a:solidFill>
                  <a:srgbClr val="696969"/>
                </a:solidFill>
                <a:latin typeface="Aptos"/>
              </a:rPr>
              <a:t>Raw </a:t>
            </a:r>
            <a:r>
              <a:rPr b="1" dirty="0" sz="1200">
                <a:solidFill>
                  <a:srgbClr val="696969"/>
                </a:solidFill>
                <a:latin typeface="Aptos"/>
              </a:rPr>
              <a:t>patient</a:t>
            </a:r>
            <a:r>
              <a:rPr b="1" dirty="0" sz="1050">
                <a:solidFill>
                  <a:srgbClr val="696969"/>
                </a:solidFill>
                <a:latin typeface="Aptos"/>
              </a:rPr>
              <a:t> data</a:t>
            </a:r>
          </a:p>
        </p:txBody>
      </p:sp>
      <p:sp>
        <p:nvSpPr>
          <p:cNvPr id="1048748" name="Rounded Rectangle 18"/>
          <p:cNvSpPr/>
          <p:nvPr/>
        </p:nvSpPr>
        <p:spPr>
          <a:xfrm>
            <a:off x="2926080" y="4251960"/>
            <a:ext cx="502920" cy="384048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49" name="TextBox 19"/>
          <p:cNvSpPr txBox="1"/>
          <p:nvPr/>
        </p:nvSpPr>
        <p:spPr>
          <a:xfrm>
            <a:off x="2926080" y="4328413"/>
            <a:ext cx="335280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48750" name="TextBox 20"/>
          <p:cNvSpPr txBox="1"/>
          <p:nvPr/>
        </p:nvSpPr>
        <p:spPr>
          <a:xfrm>
            <a:off x="3584448" y="4184142"/>
            <a:ext cx="857568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PREPARE</a:t>
            </a:r>
          </a:p>
        </p:txBody>
      </p:sp>
      <p:sp>
        <p:nvSpPr>
          <p:cNvPr id="1048751" name="TextBox 21"/>
          <p:cNvSpPr txBox="1"/>
          <p:nvPr/>
        </p:nvSpPr>
        <p:spPr>
          <a:xfrm>
            <a:off x="3584448" y="4494461"/>
            <a:ext cx="1527048" cy="44703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dirty="0" sz="1200">
                <a:solidFill>
                  <a:srgbClr val="696969"/>
                </a:solidFill>
                <a:latin typeface="Aptos"/>
              </a:rPr>
              <a:t>Clean &amp; standardize</a:t>
            </a:r>
          </a:p>
        </p:txBody>
      </p:sp>
      <p:sp>
        <p:nvSpPr>
          <p:cNvPr id="1048752" name="Rounded Rectangle 22"/>
          <p:cNvSpPr/>
          <p:nvPr/>
        </p:nvSpPr>
        <p:spPr>
          <a:xfrm>
            <a:off x="5166360" y="4251960"/>
            <a:ext cx="502920" cy="384048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3" name="TextBox 23"/>
          <p:cNvSpPr txBox="1"/>
          <p:nvPr/>
        </p:nvSpPr>
        <p:spPr>
          <a:xfrm>
            <a:off x="5166360" y="4328413"/>
            <a:ext cx="335280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48754" name="TextBox 24"/>
          <p:cNvSpPr txBox="1"/>
          <p:nvPr/>
        </p:nvSpPr>
        <p:spPr>
          <a:xfrm>
            <a:off x="5824728" y="4184142"/>
            <a:ext cx="728980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MODEL</a:t>
            </a:r>
          </a:p>
        </p:txBody>
      </p:sp>
      <p:sp>
        <p:nvSpPr>
          <p:cNvPr id="1048755" name="TextBox 25"/>
          <p:cNvSpPr txBox="1"/>
          <p:nvPr/>
        </p:nvSpPr>
        <p:spPr>
          <a:xfrm>
            <a:off x="5824728" y="4542596"/>
            <a:ext cx="1356362" cy="27699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dirty="0" sz="1200">
                <a:solidFill>
                  <a:srgbClr val="696969"/>
                </a:solidFill>
                <a:latin typeface="Aptos"/>
              </a:rPr>
              <a:t>Power BI + DAX</a:t>
            </a:r>
          </a:p>
        </p:txBody>
      </p:sp>
      <p:sp>
        <p:nvSpPr>
          <p:cNvPr id="1048756" name="Rounded Rectangle 26"/>
          <p:cNvSpPr/>
          <p:nvPr/>
        </p:nvSpPr>
        <p:spPr>
          <a:xfrm>
            <a:off x="7406640" y="4251960"/>
            <a:ext cx="502920" cy="384048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57" name="TextBox 27"/>
          <p:cNvSpPr txBox="1"/>
          <p:nvPr/>
        </p:nvSpPr>
        <p:spPr>
          <a:xfrm>
            <a:off x="7406640" y="4328413"/>
            <a:ext cx="335281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48758" name="TextBox 28"/>
          <p:cNvSpPr txBox="1"/>
          <p:nvPr/>
        </p:nvSpPr>
        <p:spPr>
          <a:xfrm>
            <a:off x="8065008" y="4184142"/>
            <a:ext cx="968494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VISUALISE</a:t>
            </a:r>
          </a:p>
        </p:txBody>
      </p:sp>
      <p:sp>
        <p:nvSpPr>
          <p:cNvPr id="1048759" name="TextBox 29"/>
          <p:cNvSpPr txBox="1"/>
          <p:nvPr/>
        </p:nvSpPr>
        <p:spPr>
          <a:xfrm>
            <a:off x="8065008" y="4552835"/>
            <a:ext cx="1356362" cy="27699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dirty="0" sz="1200">
                <a:solidFill>
                  <a:srgbClr val="696969"/>
                </a:solidFill>
                <a:latin typeface="Aptos"/>
              </a:rPr>
              <a:t>3 </a:t>
            </a:r>
            <a:r>
              <a:rPr b="1" dirty="0" sz="1200" lang="en-US">
                <a:solidFill>
                  <a:srgbClr val="696969"/>
                </a:solidFill>
                <a:latin typeface="Aptos"/>
              </a:rPr>
              <a:t>D</a:t>
            </a:r>
            <a:r>
              <a:rPr b="1" dirty="0" sz="1200">
                <a:solidFill>
                  <a:srgbClr val="696969"/>
                </a:solidFill>
                <a:latin typeface="Aptos"/>
              </a:rPr>
              <a:t>ashboards</a:t>
            </a:r>
          </a:p>
        </p:txBody>
      </p:sp>
      <p:sp>
        <p:nvSpPr>
          <p:cNvPr id="1048760" name="Rounded Rectangle 30"/>
          <p:cNvSpPr/>
          <p:nvPr/>
        </p:nvSpPr>
        <p:spPr>
          <a:xfrm>
            <a:off x="9646920" y="4251960"/>
            <a:ext cx="502920" cy="384048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1" name="TextBox 31"/>
          <p:cNvSpPr txBox="1"/>
          <p:nvPr/>
        </p:nvSpPr>
        <p:spPr>
          <a:xfrm>
            <a:off x="9646920" y="4328413"/>
            <a:ext cx="335280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1048762" name="TextBox 32"/>
          <p:cNvSpPr txBox="1"/>
          <p:nvPr/>
        </p:nvSpPr>
        <p:spPr>
          <a:xfrm>
            <a:off x="10305288" y="4184142"/>
            <a:ext cx="828249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INSIGHT</a:t>
            </a:r>
          </a:p>
        </p:txBody>
      </p:sp>
      <p:sp>
        <p:nvSpPr>
          <p:cNvPr id="1048763" name="TextBox 33"/>
          <p:cNvSpPr txBox="1"/>
          <p:nvPr/>
        </p:nvSpPr>
        <p:spPr>
          <a:xfrm>
            <a:off x="10305288" y="4426325"/>
            <a:ext cx="1356362" cy="44703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dirty="0" sz="1200">
                <a:solidFill>
                  <a:srgbClr val="696969"/>
                </a:solidFill>
                <a:latin typeface="Aptos"/>
              </a:rPr>
              <a:t>Findings &amp; action</a:t>
            </a:r>
          </a:p>
        </p:txBody>
      </p:sp>
      <p:sp>
        <p:nvSpPr>
          <p:cNvPr id="1048764" name="TextBox 34"/>
          <p:cNvSpPr txBox="1"/>
          <p:nvPr/>
        </p:nvSpPr>
        <p:spPr>
          <a:xfrm>
            <a:off x="612648" y="6486397"/>
            <a:ext cx="2068135" cy="2311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050">
                <a:solidFill>
                  <a:srgbClr val="696969"/>
                </a:solidFill>
                <a:latin typeface="Aptos"/>
              </a:rPr>
              <a:t>HEPATITIS DATA ANALYTICS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0"/>
        </a:solidFill>
        <a:effectLst/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TextBox 1"/>
          <p:cNvSpPr txBox="1"/>
          <p:nvPr/>
        </p:nvSpPr>
        <p:spPr>
          <a:xfrm>
            <a:off x="594360" y="316231"/>
            <a:ext cx="5311448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800">
                <a:solidFill>
                  <a:srgbClr val="16432E"/>
                </a:solidFill>
                <a:latin typeface="Aptos"/>
              </a:rPr>
              <a:t>Objectives &amp; Business Questions</a:t>
            </a:r>
          </a:p>
        </p:txBody>
      </p:sp>
      <p:sp>
        <p:nvSpPr>
          <p:cNvPr id="1048766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67" name="TextBox 3"/>
          <p:cNvSpPr txBox="1"/>
          <p:nvPr/>
        </p:nvSpPr>
        <p:spPr>
          <a:xfrm>
            <a:off x="658368" y="1319530"/>
            <a:ext cx="2272625" cy="332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600">
                <a:solidFill>
                  <a:srgbClr val="1F593D"/>
                </a:solidFill>
                <a:latin typeface="Aptos"/>
              </a:rPr>
              <a:t>PROJECT OBJECTIVES</a:t>
            </a:r>
          </a:p>
        </p:txBody>
      </p:sp>
      <p:sp>
        <p:nvSpPr>
          <p:cNvPr id="1048768" name="TextBox 4"/>
          <p:cNvSpPr txBox="1"/>
          <p:nvPr/>
        </p:nvSpPr>
        <p:spPr>
          <a:xfrm>
            <a:off x="685800" y="1737360"/>
            <a:ext cx="5074920" cy="23647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 Assess patient distribution across diagnostic categories.</a:t>
            </a:r>
          </a:p>
          <a:p>
            <a:pPr>
              <a:spcAft>
                <a:spcPts val="9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 Identify demographic patterns associated with advanced disease.</a:t>
            </a:r>
          </a:p>
          <a:p>
            <a:pPr>
              <a:spcAft>
                <a:spcPts val="9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 Compare laboratory indicators across disease progression.</a:t>
            </a:r>
          </a:p>
          <a:p>
            <a:pPr>
              <a:spcAft>
                <a:spcPts val="9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 sz="1600"/>
              <a:t>•  Generate evidence-based insights for monitoring priorities.</a:t>
            </a:r>
          </a:p>
        </p:txBody>
      </p:sp>
      <p:sp>
        <p:nvSpPr>
          <p:cNvPr id="1048769" name="TextBox 5"/>
          <p:cNvSpPr txBox="1"/>
          <p:nvPr/>
        </p:nvSpPr>
        <p:spPr>
          <a:xfrm>
            <a:off x="6172200" y="1319530"/>
            <a:ext cx="2265679" cy="332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600">
                <a:solidFill>
                  <a:srgbClr val="B7708F"/>
                </a:solidFill>
                <a:latin typeface="Aptos"/>
              </a:rPr>
              <a:t>BUSINESS QUESTIONS</a:t>
            </a:r>
          </a:p>
        </p:txBody>
      </p:sp>
      <p:sp>
        <p:nvSpPr>
          <p:cNvPr id="1048770" name="Rounded Rectangle 6"/>
          <p:cNvSpPr/>
          <p:nvPr/>
        </p:nvSpPr>
        <p:spPr>
          <a:xfrm>
            <a:off x="6199632" y="1737360"/>
            <a:ext cx="384048" cy="384048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1" name="TextBox 7"/>
          <p:cNvSpPr txBox="1"/>
          <p:nvPr/>
        </p:nvSpPr>
        <p:spPr>
          <a:xfrm>
            <a:off x="6199632" y="1813813"/>
            <a:ext cx="259080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48772" name="TextBox 8"/>
          <p:cNvSpPr txBox="1"/>
          <p:nvPr/>
        </p:nvSpPr>
        <p:spPr>
          <a:xfrm>
            <a:off x="6720840" y="1746030"/>
            <a:ext cx="4663440" cy="49783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How are patients distributed across diagnostic categories?</a:t>
            </a:r>
          </a:p>
        </p:txBody>
      </p:sp>
      <p:sp>
        <p:nvSpPr>
          <p:cNvPr id="1048773" name="Rounded Rectangle 9"/>
          <p:cNvSpPr/>
          <p:nvPr/>
        </p:nvSpPr>
        <p:spPr>
          <a:xfrm>
            <a:off x="6199632" y="2788920"/>
            <a:ext cx="384048" cy="384048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4" name="TextBox 10"/>
          <p:cNvSpPr txBox="1"/>
          <p:nvPr/>
        </p:nvSpPr>
        <p:spPr>
          <a:xfrm>
            <a:off x="6199632" y="2865372"/>
            <a:ext cx="259080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48775" name="TextBox 11"/>
          <p:cNvSpPr txBox="1"/>
          <p:nvPr/>
        </p:nvSpPr>
        <p:spPr>
          <a:xfrm>
            <a:off x="6720840" y="2752546"/>
            <a:ext cx="4864608" cy="523220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Which age and sex groups show greater advanced-disease representation?</a:t>
            </a:r>
          </a:p>
        </p:txBody>
      </p:sp>
      <p:sp>
        <p:nvSpPr>
          <p:cNvPr id="1048776" name="Rounded Rectangle 12"/>
          <p:cNvSpPr/>
          <p:nvPr/>
        </p:nvSpPr>
        <p:spPr>
          <a:xfrm>
            <a:off x="6199632" y="3840479"/>
            <a:ext cx="384048" cy="384048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77" name="TextBox 13"/>
          <p:cNvSpPr txBox="1"/>
          <p:nvPr/>
        </p:nvSpPr>
        <p:spPr>
          <a:xfrm>
            <a:off x="6199632" y="3916932"/>
            <a:ext cx="259080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48778" name="TextBox 14"/>
          <p:cNvSpPr txBox="1"/>
          <p:nvPr/>
        </p:nvSpPr>
        <p:spPr>
          <a:xfrm>
            <a:off x="6720840" y="3765295"/>
            <a:ext cx="4864608" cy="49783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How do key laboratory indicators vary with disease progression?</a:t>
            </a:r>
          </a:p>
        </p:txBody>
      </p:sp>
      <p:sp>
        <p:nvSpPr>
          <p:cNvPr id="1048779" name="Rounded Rectangle 15"/>
          <p:cNvSpPr/>
          <p:nvPr/>
        </p:nvSpPr>
        <p:spPr>
          <a:xfrm>
            <a:off x="6199632" y="4892040"/>
            <a:ext cx="384048" cy="384048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0" name="TextBox 16"/>
          <p:cNvSpPr txBox="1"/>
          <p:nvPr/>
        </p:nvSpPr>
        <p:spPr>
          <a:xfrm>
            <a:off x="6199632" y="4968492"/>
            <a:ext cx="259080" cy="2311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048781" name="TextBox 17"/>
          <p:cNvSpPr txBox="1"/>
          <p:nvPr/>
        </p:nvSpPr>
        <p:spPr>
          <a:xfrm>
            <a:off x="6720840" y="4879756"/>
            <a:ext cx="5166360" cy="497839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Which patient groups and indicators may require closer monitoring?</a:t>
            </a:r>
          </a:p>
        </p:txBody>
      </p:sp>
      <p:sp>
        <p:nvSpPr>
          <p:cNvPr id="1048782" name="TextBox 18"/>
          <p:cNvSpPr txBox="1"/>
          <p:nvPr/>
        </p:nvSpPr>
        <p:spPr>
          <a:xfrm>
            <a:off x="612648" y="6486397"/>
            <a:ext cx="2068135" cy="2311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050">
                <a:solidFill>
                  <a:srgbClr val="696969"/>
                </a:solidFill>
                <a:latin typeface="Aptos"/>
              </a:rPr>
              <a:t>HEPATITIS DATA ANALYTICS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6" name="TextBox 1"/>
          <p:cNvSpPr txBox="1"/>
          <p:nvPr/>
        </p:nvSpPr>
        <p:spPr>
          <a:xfrm>
            <a:off x="594360" y="316231"/>
            <a:ext cx="4414461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800">
                <a:solidFill>
                  <a:srgbClr val="16432E"/>
                </a:solidFill>
                <a:latin typeface="Aptos"/>
              </a:rPr>
              <a:t>Dataset &amp; Data Preparation</a:t>
            </a:r>
          </a:p>
        </p:txBody>
      </p:sp>
      <p:sp>
        <p:nvSpPr>
          <p:cNvPr id="1048787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88" name="TextBox 3"/>
          <p:cNvSpPr txBox="1"/>
          <p:nvPr/>
        </p:nvSpPr>
        <p:spPr>
          <a:xfrm>
            <a:off x="612648" y="972819"/>
            <a:ext cx="4191665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696969"/>
                </a:solidFill>
                <a:latin typeface="Aptos"/>
              </a:rPr>
              <a:t>Preparing the dataset for reliable Power BI analysis</a:t>
            </a:r>
          </a:p>
        </p:txBody>
      </p:sp>
      <p:sp>
        <p:nvSpPr>
          <p:cNvPr id="1048789" name="Rounded Rectangle 4"/>
          <p:cNvSpPr/>
          <p:nvPr/>
        </p:nvSpPr>
        <p:spPr>
          <a:xfrm>
            <a:off x="658368" y="1325880"/>
            <a:ext cx="2560320" cy="141732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0" name="TextBox 5"/>
          <p:cNvSpPr txBox="1"/>
          <p:nvPr/>
        </p:nvSpPr>
        <p:spPr>
          <a:xfrm>
            <a:off x="822959" y="1452879"/>
            <a:ext cx="970279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RECORDS</a:t>
            </a:r>
          </a:p>
        </p:txBody>
      </p:sp>
      <p:sp>
        <p:nvSpPr>
          <p:cNvPr id="1048791" name="TextBox 6"/>
          <p:cNvSpPr txBox="1"/>
          <p:nvPr/>
        </p:nvSpPr>
        <p:spPr>
          <a:xfrm>
            <a:off x="822959" y="1829308"/>
            <a:ext cx="6781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1F593D"/>
                </a:solidFill>
                <a:latin typeface="Aptos"/>
              </a:rPr>
              <a:t>615</a:t>
            </a:r>
          </a:p>
        </p:txBody>
      </p:sp>
      <p:sp>
        <p:nvSpPr>
          <p:cNvPr id="1048792" name="Rounded Rectangle 7"/>
          <p:cNvSpPr/>
          <p:nvPr/>
        </p:nvSpPr>
        <p:spPr>
          <a:xfrm>
            <a:off x="3429000" y="1325880"/>
            <a:ext cx="2560320" cy="1417320"/>
          </a:xfrm>
          <a:prstGeom prst="roundRect"/>
          <a:solidFill>
            <a:srgbClr val="FFFFFF"/>
          </a:solidFill>
          <a:ln w="1524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3" name="TextBox 8"/>
          <p:cNvSpPr txBox="1"/>
          <p:nvPr/>
        </p:nvSpPr>
        <p:spPr>
          <a:xfrm>
            <a:off x="3593592" y="1452879"/>
            <a:ext cx="1147137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AGE RANGE</a:t>
            </a:r>
          </a:p>
        </p:txBody>
      </p:sp>
      <p:sp>
        <p:nvSpPr>
          <p:cNvPr id="1048794" name="TextBox 9"/>
          <p:cNvSpPr txBox="1"/>
          <p:nvPr/>
        </p:nvSpPr>
        <p:spPr>
          <a:xfrm>
            <a:off x="3593592" y="1829308"/>
            <a:ext cx="15163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F2A384"/>
                </a:solidFill>
                <a:latin typeface="Aptos"/>
              </a:rPr>
              <a:t>19–77 yrs</a:t>
            </a:r>
          </a:p>
        </p:txBody>
      </p:sp>
      <p:sp>
        <p:nvSpPr>
          <p:cNvPr id="1048795" name="Rounded Rectangle 10"/>
          <p:cNvSpPr/>
          <p:nvPr/>
        </p:nvSpPr>
        <p:spPr>
          <a:xfrm>
            <a:off x="6199632" y="1325880"/>
            <a:ext cx="2560320" cy="141732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6" name="TextBox 11"/>
          <p:cNvSpPr txBox="1"/>
          <p:nvPr/>
        </p:nvSpPr>
        <p:spPr>
          <a:xfrm>
            <a:off x="6364224" y="1452879"/>
            <a:ext cx="500380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SEX</a:t>
            </a:r>
          </a:p>
        </p:txBody>
      </p:sp>
      <p:sp>
        <p:nvSpPr>
          <p:cNvPr id="1048797" name="TextBox 12"/>
          <p:cNvSpPr txBox="1"/>
          <p:nvPr/>
        </p:nvSpPr>
        <p:spPr>
          <a:xfrm>
            <a:off x="6364224" y="1829308"/>
            <a:ext cx="20116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B7708F"/>
                </a:solidFill>
                <a:latin typeface="Aptos"/>
              </a:rPr>
              <a:t>377 M • 238 F</a:t>
            </a:r>
          </a:p>
        </p:txBody>
      </p:sp>
      <p:sp>
        <p:nvSpPr>
          <p:cNvPr id="1048798" name="Rounded Rectangle 13"/>
          <p:cNvSpPr/>
          <p:nvPr/>
        </p:nvSpPr>
        <p:spPr>
          <a:xfrm>
            <a:off x="8970264" y="1325880"/>
            <a:ext cx="2560320" cy="141732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99" name="TextBox 14"/>
          <p:cNvSpPr txBox="1"/>
          <p:nvPr/>
        </p:nvSpPr>
        <p:spPr>
          <a:xfrm>
            <a:off x="9134856" y="1452879"/>
            <a:ext cx="1555175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LAB INDICATORS</a:t>
            </a:r>
          </a:p>
        </p:txBody>
      </p:sp>
      <p:sp>
        <p:nvSpPr>
          <p:cNvPr id="1048800" name="TextBox 15"/>
          <p:cNvSpPr txBox="1"/>
          <p:nvPr/>
        </p:nvSpPr>
        <p:spPr>
          <a:xfrm>
            <a:off x="9134856" y="1829308"/>
            <a:ext cx="3479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1F593D"/>
                </a:solidFill>
                <a:latin typeface="Aptos"/>
              </a:rPr>
              <a:t>5</a:t>
            </a:r>
          </a:p>
        </p:txBody>
      </p:sp>
      <p:sp>
        <p:nvSpPr>
          <p:cNvPr id="1048801" name="TextBox 16"/>
          <p:cNvSpPr txBox="1"/>
          <p:nvPr/>
        </p:nvSpPr>
        <p:spPr>
          <a:xfrm>
            <a:off x="658368" y="3167379"/>
            <a:ext cx="1816218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1F593D"/>
                </a:solidFill>
                <a:latin typeface="Aptos"/>
              </a:rPr>
              <a:t>DATA PREPARATION</a:t>
            </a:r>
          </a:p>
        </p:txBody>
      </p:sp>
      <p:sp>
        <p:nvSpPr>
          <p:cNvPr id="1048802" name="TextBox 17"/>
          <p:cNvSpPr txBox="1"/>
          <p:nvPr/>
        </p:nvSpPr>
        <p:spPr>
          <a:xfrm>
            <a:off x="685800" y="3566160"/>
            <a:ext cx="5486400" cy="2377440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dirty="0"/>
              <a:t>•  </a:t>
            </a:r>
            <a:r>
              <a:rPr dirty="0" sz="1400"/>
              <a:t>Standardized category labels, abbreviations and data types.</a:t>
            </a:r>
          </a:p>
          <a:p>
            <a:pPr>
              <a:spcAft>
                <a:spcPts val="9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dirty="0" sz="1400"/>
              <a:t>•  Laboratory missing values were imputed using the mean</a:t>
            </a:r>
            <a:r>
              <a:rPr dirty="0" sz="1400" lang="en-US"/>
              <a:t> to replace</a:t>
            </a:r>
            <a:r>
              <a:rPr dirty="0" sz="1400"/>
              <a:t> missing entries.</a:t>
            </a:r>
            <a:r>
              <a:rPr dirty="0" sz="1400" lang="en-US"/>
              <a:t> Only four out of ten laboratory indicators were selected based on their relevance to the project objectives.</a:t>
            </a:r>
            <a:endParaRPr dirty="0" sz="1400"/>
          </a:p>
          <a:p>
            <a:pPr>
              <a:spcAft>
                <a:spcPts val="9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dirty="0" sz="1400"/>
              <a:t>•  Created patient ID and diagnosis fields for analysis.</a:t>
            </a:r>
            <a:endParaRPr dirty="0" sz="1400" lang="en-US"/>
          </a:p>
          <a:p>
            <a:pPr indent="-285750" marL="285750">
              <a:spcAft>
                <a:spcPts val="900"/>
              </a:spcAft>
              <a:buFont typeface="Arial" panose="020B0604020202020204" pitchFamily="34" charset="0"/>
              <a:buChar char="•"/>
              <a:defRPr sz="1400">
                <a:solidFill>
                  <a:srgbClr val="232323"/>
                </a:solidFill>
                <a:latin typeface="Aptos"/>
              </a:defRPr>
            </a:pPr>
            <a:r>
              <a:rPr dirty="0" sz="1400" lang="en-US"/>
              <a:t>Defined age groups: Adults (19-44yrs), Older Adults (45-65yrs), Elderly (65-77yrs)</a:t>
            </a:r>
            <a:endParaRPr dirty="0" sz="1400"/>
          </a:p>
          <a:p>
            <a:pPr>
              <a:spcAft>
                <a:spcPts val="9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dirty="0" sz="1400"/>
              <a:t>•  Built calculated measures and disease-stage classifications in Power BI.</a:t>
            </a:r>
          </a:p>
        </p:txBody>
      </p:sp>
      <p:sp>
        <p:nvSpPr>
          <p:cNvPr id="1048803" name="TextBox 18"/>
          <p:cNvSpPr txBox="1"/>
          <p:nvPr/>
        </p:nvSpPr>
        <p:spPr>
          <a:xfrm>
            <a:off x="6629400" y="3167379"/>
            <a:ext cx="2337464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B7708F"/>
                </a:solidFill>
                <a:latin typeface="Aptos"/>
              </a:rPr>
              <a:t>LABORATORY INDICATORS</a:t>
            </a:r>
          </a:p>
        </p:txBody>
      </p:sp>
      <p:sp>
        <p:nvSpPr>
          <p:cNvPr id="1048804" name="Rounded Rectangle 19"/>
          <p:cNvSpPr/>
          <p:nvPr/>
        </p:nvSpPr>
        <p:spPr>
          <a:xfrm>
            <a:off x="6656832" y="3584448"/>
            <a:ext cx="640080" cy="310896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5" name="TextBox 20"/>
          <p:cNvSpPr txBox="1"/>
          <p:nvPr/>
        </p:nvSpPr>
        <p:spPr>
          <a:xfrm>
            <a:off x="6656832" y="3630674"/>
            <a:ext cx="398780" cy="2184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ALB</a:t>
            </a:r>
          </a:p>
        </p:txBody>
      </p:sp>
      <p:sp>
        <p:nvSpPr>
          <p:cNvPr id="1048806" name="TextBox 21"/>
          <p:cNvSpPr txBox="1"/>
          <p:nvPr/>
        </p:nvSpPr>
        <p:spPr>
          <a:xfrm>
            <a:off x="7479792" y="3588003"/>
            <a:ext cx="830580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sz="1400">
                <a:solidFill>
                  <a:srgbClr val="232323"/>
                </a:solidFill>
                <a:latin typeface="Aptos"/>
              </a:rPr>
              <a:t>Albumin</a:t>
            </a:r>
          </a:p>
        </p:txBody>
      </p:sp>
      <p:sp>
        <p:nvSpPr>
          <p:cNvPr id="1048807" name="Rounded Rectangle 22"/>
          <p:cNvSpPr/>
          <p:nvPr/>
        </p:nvSpPr>
        <p:spPr>
          <a:xfrm>
            <a:off x="6656832" y="4059935"/>
            <a:ext cx="640080" cy="310896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08" name="TextBox 23"/>
          <p:cNvSpPr txBox="1"/>
          <p:nvPr/>
        </p:nvSpPr>
        <p:spPr>
          <a:xfrm>
            <a:off x="6656832" y="4106162"/>
            <a:ext cx="370751" cy="2184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 sz="900">
                <a:solidFill>
                  <a:srgbClr val="FFFFFF"/>
                </a:solidFill>
                <a:latin typeface="Aptos"/>
              </a:rPr>
              <a:t>ALT</a:t>
            </a:r>
          </a:p>
        </p:txBody>
      </p:sp>
      <p:sp>
        <p:nvSpPr>
          <p:cNvPr id="1048809" name="TextBox 24"/>
          <p:cNvSpPr txBox="1"/>
          <p:nvPr/>
        </p:nvSpPr>
        <p:spPr>
          <a:xfrm>
            <a:off x="7479792" y="4063490"/>
            <a:ext cx="2205851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Alanine aminotransferase</a:t>
            </a:r>
          </a:p>
        </p:txBody>
      </p:sp>
      <p:sp>
        <p:nvSpPr>
          <p:cNvPr id="1048810" name="Rounded Rectangle 25"/>
          <p:cNvSpPr/>
          <p:nvPr/>
        </p:nvSpPr>
        <p:spPr>
          <a:xfrm>
            <a:off x="6656832" y="4535424"/>
            <a:ext cx="640080" cy="310896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r>
              <a:rPr dirty="0" sz="900" lang="en-US">
                <a:latin typeface="Aptos"/>
              </a:rPr>
              <a:t>AST</a:t>
            </a:r>
            <a:endParaRPr dirty="0" sz="900">
              <a:latin typeface="Aptos"/>
            </a:endParaRPr>
          </a:p>
        </p:txBody>
      </p:sp>
      <p:sp>
        <p:nvSpPr>
          <p:cNvPr id="1048811" name="Rounded Rectangle 28"/>
          <p:cNvSpPr/>
          <p:nvPr/>
        </p:nvSpPr>
        <p:spPr>
          <a:xfrm>
            <a:off x="6656832" y="5010912"/>
            <a:ext cx="640080" cy="310896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2" name="TextBox 29"/>
          <p:cNvSpPr txBox="1"/>
          <p:nvPr/>
        </p:nvSpPr>
        <p:spPr>
          <a:xfrm>
            <a:off x="6656832" y="5057140"/>
            <a:ext cx="347980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 sz="900">
                <a:solidFill>
                  <a:srgbClr val="FFFFFF"/>
                </a:solidFill>
                <a:latin typeface="Aptos"/>
              </a:rPr>
              <a:t>BIL</a:t>
            </a:r>
          </a:p>
        </p:txBody>
      </p:sp>
      <p:sp>
        <p:nvSpPr>
          <p:cNvPr id="1048813" name="TextBox 30"/>
          <p:cNvSpPr txBox="1"/>
          <p:nvPr/>
        </p:nvSpPr>
        <p:spPr>
          <a:xfrm>
            <a:off x="7695012" y="4981716"/>
            <a:ext cx="795411" cy="307777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Bilirubin</a:t>
            </a:r>
          </a:p>
        </p:txBody>
      </p:sp>
      <p:sp>
        <p:nvSpPr>
          <p:cNvPr id="1048814" name="TextBox 33"/>
          <p:cNvSpPr txBox="1"/>
          <p:nvPr/>
        </p:nvSpPr>
        <p:spPr>
          <a:xfrm>
            <a:off x="7479792" y="4606731"/>
            <a:ext cx="2413416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Aspartate aminotransferase</a:t>
            </a:r>
          </a:p>
        </p:txBody>
      </p:sp>
      <p:sp>
        <p:nvSpPr>
          <p:cNvPr id="1048815" name="TextBox 34"/>
          <p:cNvSpPr txBox="1"/>
          <p:nvPr/>
        </p:nvSpPr>
        <p:spPr>
          <a:xfrm>
            <a:off x="6746009" y="6244026"/>
            <a:ext cx="4530696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696969"/>
                </a:solidFill>
                <a:latin typeface="Aptos"/>
              </a:rPr>
              <a:t>Source: </a:t>
            </a:r>
            <a:r>
              <a:rPr b="1" dirty="0" sz="1400" i="1" lang="en-US">
                <a:solidFill>
                  <a:srgbClr val="696969"/>
                </a:solidFill>
                <a:latin typeface="Aptos"/>
              </a:rPr>
              <a:t>UCI Machine Learning Repository HCV Dataset</a:t>
            </a:r>
            <a:r>
              <a:rPr b="0" dirty="0" sz="1400">
                <a:solidFill>
                  <a:srgbClr val="696969"/>
                </a:solidFill>
                <a:latin typeface="Aptos"/>
              </a:rPr>
              <a:t>.</a:t>
            </a:r>
          </a:p>
        </p:txBody>
      </p:sp>
      <p:sp>
        <p:nvSpPr>
          <p:cNvPr id="1048816" name="TextBox 35"/>
          <p:cNvSpPr txBox="1"/>
          <p:nvPr/>
        </p:nvSpPr>
        <p:spPr>
          <a:xfrm>
            <a:off x="612648" y="6486397"/>
            <a:ext cx="2068135" cy="2311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050">
                <a:solidFill>
                  <a:srgbClr val="696969"/>
                </a:solidFill>
                <a:latin typeface="Aptos"/>
              </a:rPr>
              <a:t>HEPATITIS DATA ANALYTICS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0"/>
        </a:solidFill>
        <a:effectLst/>
      </p:bgPr>
    </p:bg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TextBox 1"/>
          <p:cNvSpPr txBox="1"/>
          <p:nvPr/>
        </p:nvSpPr>
        <p:spPr>
          <a:xfrm>
            <a:off x="594360" y="316231"/>
            <a:ext cx="3089295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800">
                <a:solidFill>
                  <a:srgbClr val="16432E"/>
                </a:solidFill>
                <a:latin typeface="Aptos"/>
              </a:rPr>
              <a:t>Patient Categories</a:t>
            </a:r>
          </a:p>
        </p:txBody>
      </p:sp>
      <p:sp>
        <p:nvSpPr>
          <p:cNvPr id="1048818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19" name="TextBox 3"/>
          <p:cNvSpPr txBox="1"/>
          <p:nvPr/>
        </p:nvSpPr>
        <p:spPr>
          <a:xfrm>
            <a:off x="612648" y="985520"/>
            <a:ext cx="3065780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sz="1250">
                <a:solidFill>
                  <a:srgbClr val="696969"/>
                </a:solidFill>
                <a:latin typeface="Aptos"/>
              </a:rPr>
              <a:t>Diagnostic categories used in the analysis</a:t>
            </a:r>
          </a:p>
        </p:txBody>
      </p:sp>
      <p:sp>
        <p:nvSpPr>
          <p:cNvPr id="1048820" name="Rounded Rectangle 4"/>
          <p:cNvSpPr/>
          <p:nvPr/>
        </p:nvSpPr>
        <p:spPr>
          <a:xfrm>
            <a:off x="502920" y="1508760"/>
            <a:ext cx="2057400" cy="3246120"/>
          </a:xfrm>
          <a:prstGeom prst="roundRect"/>
          <a:solidFill>
            <a:srgbClr val="FFFFFF"/>
          </a:solidFill>
          <a:ln w="1778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1" name="Oval 5"/>
          <p:cNvSpPr/>
          <p:nvPr/>
        </p:nvSpPr>
        <p:spPr>
          <a:xfrm>
            <a:off x="941832" y="1737360"/>
            <a:ext cx="1170432" cy="1170432"/>
          </a:xfrm>
          <a:prstGeom prst="ellipse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2" name="TextBox 6"/>
          <p:cNvSpPr txBox="1"/>
          <p:nvPr/>
        </p:nvSpPr>
        <p:spPr>
          <a:xfrm>
            <a:off x="941832" y="2023872"/>
            <a:ext cx="500380" cy="396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BD</a:t>
            </a:r>
          </a:p>
        </p:txBody>
      </p:sp>
      <p:sp>
        <p:nvSpPr>
          <p:cNvPr id="1048823" name="TextBox 7"/>
          <p:cNvSpPr txBox="1"/>
          <p:nvPr/>
        </p:nvSpPr>
        <p:spPr>
          <a:xfrm>
            <a:off x="649224" y="3269742"/>
            <a:ext cx="1307922" cy="2819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300">
                <a:solidFill>
                  <a:srgbClr val="16432E"/>
                </a:solidFill>
                <a:latin typeface="Aptos"/>
              </a:rPr>
              <a:t>BLOOD DONOR</a:t>
            </a:r>
          </a:p>
        </p:txBody>
      </p:sp>
      <p:sp>
        <p:nvSpPr>
          <p:cNvPr id="1048824" name="TextBox 8"/>
          <p:cNvSpPr txBox="1"/>
          <p:nvPr/>
        </p:nvSpPr>
        <p:spPr>
          <a:xfrm>
            <a:off x="649224" y="3827271"/>
            <a:ext cx="678180" cy="4470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400">
                <a:solidFill>
                  <a:srgbClr val="1F593D"/>
                </a:solidFill>
                <a:latin typeface="Aptos"/>
              </a:rPr>
              <a:t>533</a:t>
            </a:r>
          </a:p>
        </p:txBody>
      </p:sp>
      <p:sp>
        <p:nvSpPr>
          <p:cNvPr id="1048825" name="TextBox 9"/>
          <p:cNvSpPr txBox="1"/>
          <p:nvPr/>
        </p:nvSpPr>
        <p:spPr>
          <a:xfrm>
            <a:off x="649224" y="4324858"/>
            <a:ext cx="551180" cy="2565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0" sz="1100">
                <a:solidFill>
                  <a:srgbClr val="696969"/>
                </a:solidFill>
                <a:latin typeface="Aptos"/>
              </a:rPr>
              <a:t>86.7%</a:t>
            </a:r>
          </a:p>
        </p:txBody>
      </p:sp>
      <p:sp>
        <p:nvSpPr>
          <p:cNvPr id="1048826" name="Rounded Rectangle 10"/>
          <p:cNvSpPr/>
          <p:nvPr/>
        </p:nvSpPr>
        <p:spPr>
          <a:xfrm>
            <a:off x="2834639" y="1508760"/>
            <a:ext cx="2057400" cy="3246120"/>
          </a:xfrm>
          <a:prstGeom prst="roundRect"/>
          <a:solidFill>
            <a:srgbClr val="FFFFFF"/>
          </a:solidFill>
          <a:ln w="1778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7" name="Oval 11"/>
          <p:cNvSpPr/>
          <p:nvPr/>
        </p:nvSpPr>
        <p:spPr>
          <a:xfrm>
            <a:off x="3273551" y="1737360"/>
            <a:ext cx="1170432" cy="1170432"/>
          </a:xfrm>
          <a:prstGeom prst="ellipse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28" name="TextBox 12"/>
          <p:cNvSpPr txBox="1"/>
          <p:nvPr/>
        </p:nvSpPr>
        <p:spPr>
          <a:xfrm>
            <a:off x="3273551" y="2023872"/>
            <a:ext cx="500380" cy="396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SD</a:t>
            </a:r>
          </a:p>
        </p:txBody>
      </p:sp>
      <p:sp>
        <p:nvSpPr>
          <p:cNvPr id="1048829" name="TextBox 13"/>
          <p:cNvSpPr txBox="1"/>
          <p:nvPr/>
        </p:nvSpPr>
        <p:spPr>
          <a:xfrm>
            <a:off x="2980944" y="3269742"/>
            <a:ext cx="1679149" cy="2819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300">
                <a:solidFill>
                  <a:srgbClr val="16432E"/>
                </a:solidFill>
                <a:latin typeface="Aptos"/>
              </a:rPr>
              <a:t>SUSPECTED DONOR</a:t>
            </a:r>
          </a:p>
        </p:txBody>
      </p:sp>
      <p:sp>
        <p:nvSpPr>
          <p:cNvPr id="1048830" name="TextBox 14"/>
          <p:cNvSpPr txBox="1"/>
          <p:nvPr/>
        </p:nvSpPr>
        <p:spPr>
          <a:xfrm>
            <a:off x="2980944" y="3827271"/>
            <a:ext cx="347980" cy="4470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400">
                <a:solidFill>
                  <a:srgbClr val="F2A384"/>
                </a:solidFill>
                <a:latin typeface="Aptos"/>
              </a:rPr>
              <a:t>7</a:t>
            </a:r>
          </a:p>
        </p:txBody>
      </p:sp>
      <p:sp>
        <p:nvSpPr>
          <p:cNvPr id="1048831" name="TextBox 15"/>
          <p:cNvSpPr txBox="1"/>
          <p:nvPr/>
        </p:nvSpPr>
        <p:spPr>
          <a:xfrm>
            <a:off x="2980944" y="4324858"/>
            <a:ext cx="474980" cy="2565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0" sz="1100">
                <a:solidFill>
                  <a:srgbClr val="696969"/>
                </a:solidFill>
                <a:latin typeface="Aptos"/>
              </a:rPr>
              <a:t>1.1%</a:t>
            </a:r>
          </a:p>
        </p:txBody>
      </p:sp>
      <p:sp>
        <p:nvSpPr>
          <p:cNvPr id="1048832" name="Rounded Rectangle 16"/>
          <p:cNvSpPr/>
          <p:nvPr/>
        </p:nvSpPr>
        <p:spPr>
          <a:xfrm>
            <a:off x="5166359" y="1508760"/>
            <a:ext cx="2057400" cy="3246120"/>
          </a:xfrm>
          <a:prstGeom prst="roundRect"/>
          <a:solidFill>
            <a:srgbClr val="FFFFFF"/>
          </a:solidFill>
          <a:ln w="1778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3" name="Oval 17"/>
          <p:cNvSpPr/>
          <p:nvPr/>
        </p:nvSpPr>
        <p:spPr>
          <a:xfrm>
            <a:off x="5605271" y="1737360"/>
            <a:ext cx="1170432" cy="1170432"/>
          </a:xfrm>
          <a:prstGeom prst="ellipse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4" name="TextBox 18"/>
          <p:cNvSpPr txBox="1"/>
          <p:nvPr/>
        </p:nvSpPr>
        <p:spPr>
          <a:xfrm>
            <a:off x="5605271" y="2023872"/>
            <a:ext cx="360681" cy="396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048835" name="TextBox 19"/>
          <p:cNvSpPr txBox="1"/>
          <p:nvPr/>
        </p:nvSpPr>
        <p:spPr>
          <a:xfrm>
            <a:off x="5312664" y="3269742"/>
            <a:ext cx="971818" cy="2819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300">
                <a:solidFill>
                  <a:srgbClr val="16432E"/>
                </a:solidFill>
                <a:latin typeface="Aptos"/>
              </a:rPr>
              <a:t>HEPATITIS</a:t>
            </a:r>
          </a:p>
        </p:txBody>
      </p:sp>
      <p:sp>
        <p:nvSpPr>
          <p:cNvPr id="1048836" name="TextBox 20"/>
          <p:cNvSpPr txBox="1"/>
          <p:nvPr/>
        </p:nvSpPr>
        <p:spPr>
          <a:xfrm>
            <a:off x="5312664" y="3827271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400">
                <a:solidFill>
                  <a:srgbClr val="B7708F"/>
                </a:solidFill>
                <a:latin typeface="Aptos"/>
              </a:rPr>
              <a:t>24</a:t>
            </a:r>
          </a:p>
        </p:txBody>
      </p:sp>
      <p:sp>
        <p:nvSpPr>
          <p:cNvPr id="1048837" name="TextBox 21"/>
          <p:cNvSpPr txBox="1"/>
          <p:nvPr/>
        </p:nvSpPr>
        <p:spPr>
          <a:xfrm>
            <a:off x="5312664" y="4324858"/>
            <a:ext cx="474980" cy="2565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0" sz="1100">
                <a:solidFill>
                  <a:srgbClr val="696969"/>
                </a:solidFill>
                <a:latin typeface="Aptos"/>
              </a:rPr>
              <a:t>3.9%</a:t>
            </a:r>
          </a:p>
        </p:txBody>
      </p:sp>
      <p:sp>
        <p:nvSpPr>
          <p:cNvPr id="1048838" name="Rounded Rectangle 22"/>
          <p:cNvSpPr/>
          <p:nvPr/>
        </p:nvSpPr>
        <p:spPr>
          <a:xfrm>
            <a:off x="7498079" y="1508760"/>
            <a:ext cx="2057400" cy="3246120"/>
          </a:xfrm>
          <a:prstGeom prst="roundRect"/>
          <a:solidFill>
            <a:srgbClr val="FFFFFF"/>
          </a:solidFill>
          <a:ln w="1778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39" name="Oval 23"/>
          <p:cNvSpPr/>
          <p:nvPr/>
        </p:nvSpPr>
        <p:spPr>
          <a:xfrm>
            <a:off x="7936992" y="1737360"/>
            <a:ext cx="1170432" cy="1170432"/>
          </a:xfrm>
          <a:prstGeom prst="ellipse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40" name="TextBox 24"/>
          <p:cNvSpPr txBox="1"/>
          <p:nvPr/>
        </p:nvSpPr>
        <p:spPr>
          <a:xfrm>
            <a:off x="7936992" y="2023872"/>
            <a:ext cx="322581" cy="396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F</a:t>
            </a:r>
          </a:p>
        </p:txBody>
      </p:sp>
      <p:sp>
        <p:nvSpPr>
          <p:cNvPr id="1048841" name="TextBox 25"/>
          <p:cNvSpPr txBox="1"/>
          <p:nvPr/>
        </p:nvSpPr>
        <p:spPr>
          <a:xfrm>
            <a:off x="7644383" y="3269742"/>
            <a:ext cx="894080" cy="2819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300">
                <a:solidFill>
                  <a:srgbClr val="16432E"/>
                </a:solidFill>
                <a:latin typeface="Aptos"/>
              </a:rPr>
              <a:t>FIBROSIS</a:t>
            </a:r>
          </a:p>
        </p:txBody>
      </p:sp>
      <p:sp>
        <p:nvSpPr>
          <p:cNvPr id="1048842" name="TextBox 26"/>
          <p:cNvSpPr txBox="1"/>
          <p:nvPr/>
        </p:nvSpPr>
        <p:spPr>
          <a:xfrm>
            <a:off x="7644383" y="3827271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400">
                <a:solidFill>
                  <a:srgbClr val="1F593D"/>
                </a:solidFill>
                <a:latin typeface="Aptos"/>
              </a:rPr>
              <a:t>21</a:t>
            </a:r>
          </a:p>
        </p:txBody>
      </p:sp>
      <p:sp>
        <p:nvSpPr>
          <p:cNvPr id="1048843" name="TextBox 27"/>
          <p:cNvSpPr txBox="1"/>
          <p:nvPr/>
        </p:nvSpPr>
        <p:spPr>
          <a:xfrm>
            <a:off x="7644383" y="4324858"/>
            <a:ext cx="474980" cy="2565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0" sz="1100">
                <a:solidFill>
                  <a:srgbClr val="696969"/>
                </a:solidFill>
                <a:latin typeface="Aptos"/>
              </a:rPr>
              <a:t>3.4%</a:t>
            </a:r>
          </a:p>
        </p:txBody>
      </p:sp>
      <p:sp>
        <p:nvSpPr>
          <p:cNvPr id="1048844" name="Rounded Rectangle 28"/>
          <p:cNvSpPr/>
          <p:nvPr/>
        </p:nvSpPr>
        <p:spPr>
          <a:xfrm>
            <a:off x="9829800" y="1508760"/>
            <a:ext cx="2057400" cy="3246120"/>
          </a:xfrm>
          <a:prstGeom prst="roundRect"/>
          <a:solidFill>
            <a:srgbClr val="FFFFFF"/>
          </a:solidFill>
          <a:ln w="1778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45" name="Oval 29"/>
          <p:cNvSpPr/>
          <p:nvPr/>
        </p:nvSpPr>
        <p:spPr>
          <a:xfrm>
            <a:off x="10268712" y="1737360"/>
            <a:ext cx="1170432" cy="1170432"/>
          </a:xfrm>
          <a:prstGeom prst="ellipse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46" name="TextBox 30"/>
          <p:cNvSpPr txBox="1"/>
          <p:nvPr/>
        </p:nvSpPr>
        <p:spPr>
          <a:xfrm>
            <a:off x="10268712" y="2023872"/>
            <a:ext cx="347981" cy="396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000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048847" name="TextBox 31"/>
          <p:cNvSpPr txBox="1"/>
          <p:nvPr/>
        </p:nvSpPr>
        <p:spPr>
          <a:xfrm>
            <a:off x="9976104" y="3269742"/>
            <a:ext cx="1021081" cy="2819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300">
                <a:solidFill>
                  <a:srgbClr val="16432E"/>
                </a:solidFill>
                <a:latin typeface="Aptos"/>
              </a:rPr>
              <a:t>CIRRHOSIS</a:t>
            </a:r>
          </a:p>
        </p:txBody>
      </p:sp>
      <p:sp>
        <p:nvSpPr>
          <p:cNvPr id="1048848" name="TextBox 32"/>
          <p:cNvSpPr txBox="1"/>
          <p:nvPr/>
        </p:nvSpPr>
        <p:spPr>
          <a:xfrm>
            <a:off x="9976104" y="3827271"/>
            <a:ext cx="513081" cy="4470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2400">
                <a:solidFill>
                  <a:srgbClr val="F2A384"/>
                </a:solidFill>
                <a:latin typeface="Aptos"/>
              </a:rPr>
              <a:t>30</a:t>
            </a:r>
          </a:p>
        </p:txBody>
      </p:sp>
      <p:sp>
        <p:nvSpPr>
          <p:cNvPr id="1048849" name="TextBox 33"/>
          <p:cNvSpPr txBox="1"/>
          <p:nvPr/>
        </p:nvSpPr>
        <p:spPr>
          <a:xfrm>
            <a:off x="9976104" y="4324858"/>
            <a:ext cx="474981" cy="2565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0" sz="1100">
                <a:solidFill>
                  <a:srgbClr val="696969"/>
                </a:solidFill>
                <a:latin typeface="Aptos"/>
              </a:rPr>
              <a:t>4.9%</a:t>
            </a:r>
          </a:p>
        </p:txBody>
      </p:sp>
      <p:sp>
        <p:nvSpPr>
          <p:cNvPr id="1048850" name="TextBox 34"/>
          <p:cNvSpPr txBox="1"/>
          <p:nvPr/>
        </p:nvSpPr>
        <p:spPr>
          <a:xfrm>
            <a:off x="658368" y="5168900"/>
            <a:ext cx="3088204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Disease-stage grouping used in the project</a:t>
            </a:r>
          </a:p>
        </p:txBody>
      </p:sp>
      <p:sp>
        <p:nvSpPr>
          <p:cNvPr id="1048851" name="Rounded Rectangle 35"/>
          <p:cNvSpPr/>
          <p:nvPr/>
        </p:nvSpPr>
        <p:spPr>
          <a:xfrm>
            <a:off x="685800" y="5577840"/>
            <a:ext cx="2468880" cy="45720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2" name="TextBox 36"/>
          <p:cNvSpPr txBox="1"/>
          <p:nvPr/>
        </p:nvSpPr>
        <p:spPr>
          <a:xfrm>
            <a:off x="957893" y="5671818"/>
            <a:ext cx="2075080" cy="2692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 sz="1200">
                <a:solidFill>
                  <a:srgbClr val="FFFFFF"/>
                </a:solidFill>
                <a:latin typeface="Aptos"/>
              </a:rPr>
              <a:t>NON-ADVANCED</a:t>
            </a:r>
            <a:r>
              <a:rPr b="1" dirty="0" sz="1000" lang="en-US">
                <a:solidFill>
                  <a:srgbClr val="FFFFFF"/>
                </a:solidFill>
                <a:latin typeface="Aptos"/>
              </a:rPr>
              <a:t> </a:t>
            </a:r>
            <a:r>
              <a:rPr b="1" dirty="0" sz="1000">
                <a:solidFill>
                  <a:srgbClr val="FFFFFF"/>
                </a:solidFill>
                <a:latin typeface="Aptos"/>
              </a:rPr>
              <a:t>:</a:t>
            </a:r>
            <a:r>
              <a:rPr b="1" dirty="0" sz="1000" lang="en-US">
                <a:solidFill>
                  <a:srgbClr val="FFFFFF"/>
                </a:solidFill>
                <a:latin typeface="Aptos"/>
              </a:rPr>
              <a:t> </a:t>
            </a:r>
            <a:r>
              <a:rPr b="1" dirty="0" sz="1000">
                <a:solidFill>
                  <a:srgbClr val="FFFFFF"/>
                </a:solidFill>
                <a:latin typeface="Aptos"/>
              </a:rPr>
              <a:t> HEPATITIS</a:t>
            </a:r>
          </a:p>
        </p:txBody>
      </p:sp>
      <p:sp>
        <p:nvSpPr>
          <p:cNvPr id="1048853" name="Rounded Rectangle 37"/>
          <p:cNvSpPr/>
          <p:nvPr/>
        </p:nvSpPr>
        <p:spPr>
          <a:xfrm>
            <a:off x="3383280" y="5577840"/>
            <a:ext cx="3108960" cy="457200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4" name="TextBox 38"/>
          <p:cNvSpPr txBox="1"/>
          <p:nvPr/>
        </p:nvSpPr>
        <p:spPr>
          <a:xfrm>
            <a:off x="3708449" y="5671818"/>
            <a:ext cx="2677586" cy="269241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 sz="1200">
                <a:solidFill>
                  <a:srgbClr val="FFFFFF"/>
                </a:solidFill>
                <a:latin typeface="Aptos"/>
              </a:rPr>
              <a:t>ADVANCED</a:t>
            </a:r>
            <a:r>
              <a:rPr b="1" dirty="0" sz="1200" lang="en-US">
                <a:solidFill>
                  <a:srgbClr val="FFFFFF"/>
                </a:solidFill>
                <a:latin typeface="Aptos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ptos"/>
              </a:rPr>
              <a:t>:</a:t>
            </a:r>
            <a:r>
              <a:rPr b="1" dirty="0" sz="1200" lang="en-US">
                <a:solidFill>
                  <a:srgbClr val="FFFFFF"/>
                </a:solidFill>
                <a:latin typeface="Aptos"/>
              </a:rPr>
              <a:t> </a:t>
            </a:r>
            <a:r>
              <a:rPr b="1" dirty="0" sz="1200">
                <a:solidFill>
                  <a:srgbClr val="FFFFFF"/>
                </a:solidFill>
                <a:latin typeface="Aptos"/>
              </a:rPr>
              <a:t> FIBROSIS + CIRRHOSIS</a:t>
            </a:r>
          </a:p>
        </p:txBody>
      </p:sp>
      <p:sp>
        <p:nvSpPr>
          <p:cNvPr id="1048855" name="TextBox 40"/>
          <p:cNvSpPr txBox="1"/>
          <p:nvPr/>
        </p:nvSpPr>
        <p:spPr>
          <a:xfrm>
            <a:off x="594360" y="6444438"/>
            <a:ext cx="2068135" cy="2311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050">
                <a:solidFill>
                  <a:srgbClr val="696969"/>
                </a:solidFill>
                <a:latin typeface="Aptos"/>
              </a:rPr>
              <a:t>HEPATITIS DATA ANALYTICS  •  5</a:t>
            </a:r>
          </a:p>
        </p:txBody>
      </p:sp>
      <p:sp>
        <p:nvSpPr>
          <p:cNvPr id="1048856" name="Rounded Rectangle 37"/>
          <p:cNvSpPr/>
          <p:nvPr/>
        </p:nvSpPr>
        <p:spPr>
          <a:xfrm>
            <a:off x="6783325" y="5573267"/>
            <a:ext cx="3108960" cy="461773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57" name="TextBox 39"/>
          <p:cNvSpPr txBox="1"/>
          <p:nvPr/>
        </p:nvSpPr>
        <p:spPr>
          <a:xfrm>
            <a:off x="6750078" y="5698422"/>
            <a:ext cx="3304252" cy="2692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200">
                <a:solidFill>
                  <a:schemeClr val="bg1"/>
                </a:solidFill>
                <a:latin typeface="Aptos"/>
              </a:rPr>
              <a:t>Control</a:t>
            </a:r>
            <a:r>
              <a:rPr b="0" dirty="0" sz="1150">
                <a:solidFill>
                  <a:schemeClr val="bg1"/>
                </a:solidFill>
                <a:latin typeface="Aptos"/>
              </a:rPr>
              <a:t> groups</a:t>
            </a:r>
            <a:r>
              <a:rPr b="0" dirty="0" sz="1150" lang="en-US">
                <a:solidFill>
                  <a:schemeClr val="bg1"/>
                </a:solidFill>
                <a:latin typeface="Aptos"/>
              </a:rPr>
              <a:t> </a:t>
            </a:r>
            <a:r>
              <a:rPr b="0" dirty="0" sz="1150">
                <a:solidFill>
                  <a:schemeClr val="bg1"/>
                </a:solidFill>
                <a:latin typeface="Aptos"/>
              </a:rPr>
              <a:t>: </a:t>
            </a:r>
            <a:r>
              <a:rPr b="0" dirty="0" sz="1150" lang="en-US">
                <a:solidFill>
                  <a:schemeClr val="bg1"/>
                </a:solidFill>
                <a:latin typeface="Aptos"/>
              </a:rPr>
              <a:t> </a:t>
            </a:r>
            <a:r>
              <a:rPr b="0" dirty="0" sz="1150">
                <a:solidFill>
                  <a:schemeClr val="bg1"/>
                </a:solidFill>
                <a:latin typeface="Aptos"/>
              </a:rPr>
              <a:t>Blood Donor + Suspected Donor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TextBox 1"/>
          <p:cNvSpPr txBox="1"/>
          <p:nvPr/>
        </p:nvSpPr>
        <p:spPr>
          <a:xfrm>
            <a:off x="594360" y="316231"/>
            <a:ext cx="8324176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800">
                <a:solidFill>
                  <a:srgbClr val="16432E"/>
                </a:solidFill>
                <a:latin typeface="Aptos"/>
              </a:rPr>
              <a:t>Dashboard 1 — Patient Demographics &amp; Distribution</a:t>
            </a:r>
          </a:p>
        </p:txBody>
      </p:sp>
      <p:sp>
        <p:nvSpPr>
          <p:cNvPr id="1048859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0" name="Rounded Rectangle 3"/>
          <p:cNvSpPr/>
          <p:nvPr/>
        </p:nvSpPr>
        <p:spPr>
          <a:xfrm>
            <a:off x="640080" y="1234440"/>
            <a:ext cx="1965960" cy="114300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1" name="TextBox 4"/>
          <p:cNvSpPr txBox="1"/>
          <p:nvPr/>
        </p:nvSpPr>
        <p:spPr>
          <a:xfrm>
            <a:off x="804671" y="1380490"/>
            <a:ext cx="1295470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TOTAL PATIENTS</a:t>
            </a:r>
          </a:p>
        </p:txBody>
      </p:sp>
      <p:sp>
        <p:nvSpPr>
          <p:cNvPr id="1048862" name="TextBox 5"/>
          <p:cNvSpPr txBox="1"/>
          <p:nvPr/>
        </p:nvSpPr>
        <p:spPr>
          <a:xfrm>
            <a:off x="804671" y="1737868"/>
            <a:ext cx="678181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1F593D"/>
                </a:solidFill>
                <a:latin typeface="Aptos"/>
              </a:rPr>
              <a:t>615</a:t>
            </a:r>
          </a:p>
        </p:txBody>
      </p:sp>
      <p:sp>
        <p:nvSpPr>
          <p:cNvPr id="1048863" name="Rounded Rectangle 6"/>
          <p:cNvSpPr/>
          <p:nvPr/>
        </p:nvSpPr>
        <p:spPr>
          <a:xfrm>
            <a:off x="2788920" y="1234440"/>
            <a:ext cx="1965960" cy="114300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4" name="TextBox 7"/>
          <p:cNvSpPr txBox="1"/>
          <p:nvPr/>
        </p:nvSpPr>
        <p:spPr>
          <a:xfrm>
            <a:off x="2953512" y="1380490"/>
            <a:ext cx="552421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MALE</a:t>
            </a:r>
          </a:p>
        </p:txBody>
      </p:sp>
      <p:sp>
        <p:nvSpPr>
          <p:cNvPr id="1048865" name="TextBox 8"/>
          <p:cNvSpPr txBox="1"/>
          <p:nvPr/>
        </p:nvSpPr>
        <p:spPr>
          <a:xfrm>
            <a:off x="2953512" y="1737868"/>
            <a:ext cx="6781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1F593D"/>
                </a:solidFill>
                <a:latin typeface="Aptos"/>
              </a:rPr>
              <a:t>377</a:t>
            </a:r>
          </a:p>
        </p:txBody>
      </p:sp>
      <p:sp>
        <p:nvSpPr>
          <p:cNvPr id="1048866" name="Rounded Rectangle 9"/>
          <p:cNvSpPr/>
          <p:nvPr/>
        </p:nvSpPr>
        <p:spPr>
          <a:xfrm>
            <a:off x="4937760" y="1234440"/>
            <a:ext cx="1965960" cy="114300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67" name="TextBox 10"/>
          <p:cNvSpPr txBox="1"/>
          <p:nvPr/>
        </p:nvSpPr>
        <p:spPr>
          <a:xfrm>
            <a:off x="5102352" y="1380490"/>
            <a:ext cx="704821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FEMALE</a:t>
            </a:r>
          </a:p>
        </p:txBody>
      </p:sp>
      <p:sp>
        <p:nvSpPr>
          <p:cNvPr id="1048868" name="TextBox 11"/>
          <p:cNvSpPr txBox="1"/>
          <p:nvPr/>
        </p:nvSpPr>
        <p:spPr>
          <a:xfrm>
            <a:off x="5102352" y="1737868"/>
            <a:ext cx="6781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B7708F"/>
                </a:solidFill>
                <a:latin typeface="Aptos"/>
              </a:rPr>
              <a:t>238</a:t>
            </a:r>
          </a:p>
        </p:txBody>
      </p:sp>
      <p:sp>
        <p:nvSpPr>
          <p:cNvPr id="1048869" name="Rounded Rectangle 12"/>
          <p:cNvSpPr/>
          <p:nvPr/>
        </p:nvSpPr>
        <p:spPr>
          <a:xfrm>
            <a:off x="7086600" y="1234440"/>
            <a:ext cx="1965960" cy="1143000"/>
          </a:xfrm>
          <a:prstGeom prst="roundRect"/>
          <a:solidFill>
            <a:srgbClr val="FFFFFF"/>
          </a:solidFill>
          <a:ln w="1524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0" name="TextBox 13"/>
          <p:cNvSpPr txBox="1"/>
          <p:nvPr/>
        </p:nvSpPr>
        <p:spPr>
          <a:xfrm>
            <a:off x="7251192" y="1380490"/>
            <a:ext cx="1089839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AVERAGE AGE</a:t>
            </a:r>
          </a:p>
        </p:txBody>
      </p:sp>
      <p:sp>
        <p:nvSpPr>
          <p:cNvPr id="1048871" name="TextBox 14"/>
          <p:cNvSpPr txBox="1"/>
          <p:nvPr/>
        </p:nvSpPr>
        <p:spPr>
          <a:xfrm>
            <a:off x="7251192" y="1737868"/>
            <a:ext cx="9829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F2A384"/>
                </a:solidFill>
                <a:latin typeface="Aptos"/>
              </a:rPr>
              <a:t>47 yrs</a:t>
            </a:r>
          </a:p>
        </p:txBody>
      </p:sp>
      <p:sp>
        <p:nvSpPr>
          <p:cNvPr id="1048872" name="Rounded Rectangle 15"/>
          <p:cNvSpPr/>
          <p:nvPr/>
        </p:nvSpPr>
        <p:spPr>
          <a:xfrm>
            <a:off x="9235440" y="1234440"/>
            <a:ext cx="2240280" cy="114300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3" name="TextBox 16"/>
          <p:cNvSpPr txBox="1"/>
          <p:nvPr/>
        </p:nvSpPr>
        <p:spPr>
          <a:xfrm>
            <a:off x="9400032" y="1380490"/>
            <a:ext cx="906780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CIRRHOSIS</a:t>
            </a:r>
          </a:p>
        </p:txBody>
      </p:sp>
      <p:sp>
        <p:nvSpPr>
          <p:cNvPr id="1048874" name="TextBox 17"/>
          <p:cNvSpPr txBox="1"/>
          <p:nvPr/>
        </p:nvSpPr>
        <p:spPr>
          <a:xfrm>
            <a:off x="9400032" y="1737868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B7708F"/>
                </a:solidFill>
                <a:latin typeface="Aptos"/>
              </a:rPr>
              <a:t>30</a:t>
            </a:r>
          </a:p>
        </p:txBody>
      </p:sp>
      <p:graphicFrame>
        <p:nvGraphicFramePr>
          <p:cNvPr id="4194305" name="Chart 18"/>
          <p:cNvGraphicFramePr>
            <a:graphicFrameLocks noGrp="1"/>
          </p:cNvGraphicFramePr>
          <p:nvPr/>
        </p:nvGraphicFramePr>
        <p:xfrm>
          <a:off x="640080" y="2697480"/>
          <a:ext cx="54864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875" name="TextBox 19"/>
          <p:cNvSpPr txBox="1"/>
          <p:nvPr/>
        </p:nvSpPr>
        <p:spPr>
          <a:xfrm>
            <a:off x="6446520" y="2745740"/>
            <a:ext cx="2023587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AGE GROUP DISTRIBUTION</a:t>
            </a:r>
          </a:p>
        </p:txBody>
      </p:sp>
      <p:sp>
        <p:nvSpPr>
          <p:cNvPr id="1048876" name="TextBox 20"/>
          <p:cNvSpPr txBox="1"/>
          <p:nvPr/>
        </p:nvSpPr>
        <p:spPr>
          <a:xfrm>
            <a:off x="6492240" y="3265169"/>
            <a:ext cx="640080" cy="2819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232323"/>
                </a:solidFill>
                <a:latin typeface="Aptos"/>
              </a:rPr>
              <a:t>Adults</a:t>
            </a:r>
          </a:p>
        </p:txBody>
      </p:sp>
      <p:sp>
        <p:nvSpPr>
          <p:cNvPr id="1048877" name="Rounded Rectangle 21"/>
          <p:cNvSpPr/>
          <p:nvPr/>
        </p:nvSpPr>
        <p:spPr>
          <a:xfrm>
            <a:off x="8183879" y="3227832"/>
            <a:ext cx="914400" cy="384048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78" name="TextBox 22"/>
          <p:cNvSpPr txBox="1"/>
          <p:nvPr/>
        </p:nvSpPr>
        <p:spPr>
          <a:xfrm>
            <a:off x="8373217" y="3240785"/>
            <a:ext cx="563880" cy="3581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160</a:t>
            </a:r>
          </a:p>
        </p:txBody>
      </p:sp>
      <p:sp>
        <p:nvSpPr>
          <p:cNvPr id="1048879" name="TextBox 24"/>
          <p:cNvSpPr txBox="1"/>
          <p:nvPr/>
        </p:nvSpPr>
        <p:spPr>
          <a:xfrm>
            <a:off x="6492240" y="4042408"/>
            <a:ext cx="1059180" cy="2819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232323"/>
                </a:solidFill>
                <a:latin typeface="Aptos"/>
              </a:rPr>
              <a:t>Older Adults</a:t>
            </a:r>
          </a:p>
        </p:txBody>
      </p:sp>
      <p:sp>
        <p:nvSpPr>
          <p:cNvPr id="1048880" name="Rounded Rectangle 25"/>
          <p:cNvSpPr/>
          <p:nvPr/>
        </p:nvSpPr>
        <p:spPr>
          <a:xfrm>
            <a:off x="8183879" y="4005072"/>
            <a:ext cx="914400" cy="384048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1" name="TextBox 26"/>
          <p:cNvSpPr txBox="1"/>
          <p:nvPr/>
        </p:nvSpPr>
        <p:spPr>
          <a:xfrm>
            <a:off x="8373217" y="4018024"/>
            <a:ext cx="563880" cy="3581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380</a:t>
            </a:r>
          </a:p>
        </p:txBody>
      </p:sp>
      <p:sp>
        <p:nvSpPr>
          <p:cNvPr id="1048882" name="TextBox 28"/>
          <p:cNvSpPr txBox="1"/>
          <p:nvPr/>
        </p:nvSpPr>
        <p:spPr>
          <a:xfrm>
            <a:off x="6492240" y="4819650"/>
            <a:ext cx="652780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232323"/>
                </a:solidFill>
                <a:latin typeface="Aptos"/>
              </a:rPr>
              <a:t>Elderly</a:t>
            </a:r>
          </a:p>
        </p:txBody>
      </p:sp>
      <p:sp>
        <p:nvSpPr>
          <p:cNvPr id="1048883" name="Rounded Rectangle 29"/>
          <p:cNvSpPr/>
          <p:nvPr/>
        </p:nvSpPr>
        <p:spPr>
          <a:xfrm>
            <a:off x="8183879" y="4782312"/>
            <a:ext cx="914400" cy="384048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4" name="TextBox 30"/>
          <p:cNvSpPr txBox="1"/>
          <p:nvPr/>
        </p:nvSpPr>
        <p:spPr>
          <a:xfrm>
            <a:off x="8431727" y="4789670"/>
            <a:ext cx="418704" cy="36933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75</a:t>
            </a:r>
          </a:p>
        </p:txBody>
      </p:sp>
      <p:sp>
        <p:nvSpPr>
          <p:cNvPr id="1048885" name="TextBox 32"/>
          <p:cNvSpPr txBox="1"/>
          <p:nvPr/>
        </p:nvSpPr>
        <p:spPr>
          <a:xfrm>
            <a:off x="6492240" y="5717540"/>
            <a:ext cx="1249681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Sex distribution</a:t>
            </a:r>
          </a:p>
        </p:txBody>
      </p:sp>
      <p:sp>
        <p:nvSpPr>
          <p:cNvPr id="1048886" name="Rounded Rectangle 33"/>
          <p:cNvSpPr/>
          <p:nvPr/>
        </p:nvSpPr>
        <p:spPr>
          <a:xfrm>
            <a:off x="8183879" y="5641848"/>
            <a:ext cx="1417320" cy="384048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7" name="TextBox 34"/>
          <p:cNvSpPr txBox="1"/>
          <p:nvPr/>
        </p:nvSpPr>
        <p:spPr>
          <a:xfrm>
            <a:off x="8239957" y="5654802"/>
            <a:ext cx="1351279" cy="3581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>
                <a:solidFill>
                  <a:srgbClr val="FFFFFF"/>
                </a:solidFill>
                <a:latin typeface="Aptos"/>
              </a:rPr>
              <a:t>Male 61.3%</a:t>
            </a:r>
          </a:p>
        </p:txBody>
      </p:sp>
      <p:sp>
        <p:nvSpPr>
          <p:cNvPr id="1048888" name="Rounded Rectangle 35"/>
          <p:cNvSpPr/>
          <p:nvPr/>
        </p:nvSpPr>
        <p:spPr>
          <a:xfrm>
            <a:off x="9738360" y="5641848"/>
            <a:ext cx="1417320" cy="384048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889" name="TextBox 36"/>
          <p:cNvSpPr txBox="1"/>
          <p:nvPr/>
        </p:nvSpPr>
        <p:spPr>
          <a:xfrm>
            <a:off x="9692743" y="5654802"/>
            <a:ext cx="1602948" cy="3581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>
                <a:solidFill>
                  <a:srgbClr val="FFFFFF"/>
                </a:solidFill>
                <a:latin typeface="Aptos"/>
              </a:rPr>
              <a:t>Female 38.7%</a:t>
            </a:r>
          </a:p>
        </p:txBody>
      </p:sp>
      <p:sp>
        <p:nvSpPr>
          <p:cNvPr id="1048890" name="TextBox 37"/>
          <p:cNvSpPr txBox="1"/>
          <p:nvPr/>
        </p:nvSpPr>
        <p:spPr>
          <a:xfrm>
            <a:off x="612648" y="6486397"/>
            <a:ext cx="2068135" cy="2311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050">
                <a:solidFill>
                  <a:srgbClr val="696969"/>
                </a:solidFill>
                <a:latin typeface="Aptos"/>
              </a:rPr>
              <a:t>HEPATITIS DATA ANALYTICS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0"/>
        </a:solidFill>
        <a:effectLst/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extBox 1"/>
          <p:cNvSpPr txBox="1"/>
          <p:nvPr/>
        </p:nvSpPr>
        <p:spPr>
          <a:xfrm>
            <a:off x="594360" y="316231"/>
            <a:ext cx="8246388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800">
                <a:solidFill>
                  <a:srgbClr val="16432E"/>
                </a:solidFill>
                <a:latin typeface="Aptos"/>
              </a:rPr>
              <a:t>Dashboard 2 — Disease &amp; Demographic Risk Profile</a:t>
            </a:r>
          </a:p>
        </p:txBody>
      </p:sp>
      <p:sp>
        <p:nvSpPr>
          <p:cNvPr id="1048661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2" name="Rounded Rectangle 3"/>
          <p:cNvSpPr/>
          <p:nvPr/>
        </p:nvSpPr>
        <p:spPr>
          <a:xfrm>
            <a:off x="640080" y="1234440"/>
            <a:ext cx="2057400" cy="1143000"/>
          </a:xfrm>
          <a:prstGeom prst="roundRect"/>
          <a:solidFill>
            <a:srgbClr val="FFFFFF"/>
          </a:solidFill>
          <a:ln w="1524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3" name="TextBox 4"/>
          <p:cNvSpPr txBox="1"/>
          <p:nvPr/>
        </p:nvSpPr>
        <p:spPr>
          <a:xfrm>
            <a:off x="804671" y="1380490"/>
            <a:ext cx="861189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HEPATITIS</a:t>
            </a:r>
          </a:p>
        </p:txBody>
      </p:sp>
      <p:sp>
        <p:nvSpPr>
          <p:cNvPr id="1048664" name="TextBox 5"/>
          <p:cNvSpPr txBox="1"/>
          <p:nvPr/>
        </p:nvSpPr>
        <p:spPr>
          <a:xfrm>
            <a:off x="804671" y="1737868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F2A384"/>
                </a:solidFill>
                <a:latin typeface="Aptos"/>
              </a:rPr>
              <a:t>24</a:t>
            </a:r>
          </a:p>
        </p:txBody>
      </p:sp>
      <p:sp>
        <p:nvSpPr>
          <p:cNvPr id="1048665" name="Rounded Rectangle 6"/>
          <p:cNvSpPr/>
          <p:nvPr/>
        </p:nvSpPr>
        <p:spPr>
          <a:xfrm>
            <a:off x="2880360" y="1234440"/>
            <a:ext cx="2057400" cy="114300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6" name="TextBox 7"/>
          <p:cNvSpPr txBox="1"/>
          <p:nvPr/>
        </p:nvSpPr>
        <p:spPr>
          <a:xfrm>
            <a:off x="3044952" y="1380490"/>
            <a:ext cx="792480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FIBROSIS</a:t>
            </a:r>
          </a:p>
        </p:txBody>
      </p:sp>
      <p:sp>
        <p:nvSpPr>
          <p:cNvPr id="1048667" name="TextBox 8"/>
          <p:cNvSpPr txBox="1"/>
          <p:nvPr/>
        </p:nvSpPr>
        <p:spPr>
          <a:xfrm>
            <a:off x="3044952" y="1737868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B7708F"/>
                </a:solidFill>
                <a:latin typeface="Aptos"/>
              </a:rPr>
              <a:t>21</a:t>
            </a:r>
          </a:p>
        </p:txBody>
      </p:sp>
      <p:sp>
        <p:nvSpPr>
          <p:cNvPr id="1048668" name="Rounded Rectangle 9"/>
          <p:cNvSpPr/>
          <p:nvPr/>
        </p:nvSpPr>
        <p:spPr>
          <a:xfrm>
            <a:off x="5120640" y="1234440"/>
            <a:ext cx="2057400" cy="114300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69" name="TextBox 10"/>
          <p:cNvSpPr txBox="1"/>
          <p:nvPr/>
        </p:nvSpPr>
        <p:spPr>
          <a:xfrm>
            <a:off x="5285231" y="1380490"/>
            <a:ext cx="906780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CIRRHOSIS</a:t>
            </a:r>
          </a:p>
        </p:txBody>
      </p:sp>
      <p:sp>
        <p:nvSpPr>
          <p:cNvPr id="1048670" name="TextBox 11"/>
          <p:cNvSpPr txBox="1"/>
          <p:nvPr/>
        </p:nvSpPr>
        <p:spPr>
          <a:xfrm>
            <a:off x="5285231" y="1737868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B7708F"/>
                </a:solidFill>
                <a:latin typeface="Aptos"/>
              </a:rPr>
              <a:t>30</a:t>
            </a:r>
          </a:p>
        </p:txBody>
      </p:sp>
      <p:sp>
        <p:nvSpPr>
          <p:cNvPr id="1048671" name="Rounded Rectangle 12"/>
          <p:cNvSpPr/>
          <p:nvPr/>
        </p:nvSpPr>
        <p:spPr>
          <a:xfrm>
            <a:off x="7360920" y="1234440"/>
            <a:ext cx="2057400" cy="114300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2" name="TextBox 13"/>
          <p:cNvSpPr txBox="1"/>
          <p:nvPr/>
        </p:nvSpPr>
        <p:spPr>
          <a:xfrm>
            <a:off x="7525512" y="1380490"/>
            <a:ext cx="887482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ADVANCED</a:t>
            </a:r>
          </a:p>
        </p:txBody>
      </p:sp>
      <p:sp>
        <p:nvSpPr>
          <p:cNvPr id="1048673" name="TextBox 14"/>
          <p:cNvSpPr txBox="1"/>
          <p:nvPr/>
        </p:nvSpPr>
        <p:spPr>
          <a:xfrm>
            <a:off x="7525512" y="1737868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B7708F"/>
                </a:solidFill>
                <a:latin typeface="Aptos"/>
              </a:rPr>
              <a:t>51</a:t>
            </a:r>
          </a:p>
        </p:txBody>
      </p:sp>
      <p:sp>
        <p:nvSpPr>
          <p:cNvPr id="1048674" name="Rounded Rectangle 15"/>
          <p:cNvSpPr/>
          <p:nvPr/>
        </p:nvSpPr>
        <p:spPr>
          <a:xfrm>
            <a:off x="9601200" y="1234440"/>
            <a:ext cx="1874519" cy="114300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75" name="TextBox 16"/>
          <p:cNvSpPr txBox="1"/>
          <p:nvPr/>
        </p:nvSpPr>
        <p:spPr>
          <a:xfrm>
            <a:off x="9765792" y="1380490"/>
            <a:ext cx="1230382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NON-ADVANCED</a:t>
            </a:r>
          </a:p>
        </p:txBody>
      </p:sp>
      <p:sp>
        <p:nvSpPr>
          <p:cNvPr id="1048676" name="TextBox 17"/>
          <p:cNvSpPr txBox="1"/>
          <p:nvPr/>
        </p:nvSpPr>
        <p:spPr>
          <a:xfrm>
            <a:off x="9765792" y="1737868"/>
            <a:ext cx="513080" cy="447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400">
                <a:solidFill>
                  <a:srgbClr val="1F593D"/>
                </a:solidFill>
                <a:latin typeface="Aptos"/>
              </a:rPr>
              <a:t>24</a:t>
            </a:r>
          </a:p>
        </p:txBody>
      </p:sp>
      <p:sp>
        <p:nvSpPr>
          <p:cNvPr id="1048677" name="TextBox 18"/>
          <p:cNvSpPr txBox="1"/>
          <p:nvPr/>
        </p:nvSpPr>
        <p:spPr>
          <a:xfrm>
            <a:off x="685800" y="2745740"/>
            <a:ext cx="2102813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DISEASED PATIENTS (n=75)</a:t>
            </a:r>
          </a:p>
        </p:txBody>
      </p:sp>
      <p:sp>
        <p:nvSpPr>
          <p:cNvPr id="1048678" name="TextBox 19"/>
          <p:cNvSpPr txBox="1"/>
          <p:nvPr/>
        </p:nvSpPr>
        <p:spPr>
          <a:xfrm>
            <a:off x="685800" y="3219450"/>
            <a:ext cx="1502490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232323"/>
                </a:solidFill>
                <a:latin typeface="Aptos"/>
              </a:rPr>
              <a:t>Advanced disease</a:t>
            </a:r>
          </a:p>
        </p:txBody>
      </p:sp>
      <p:sp>
        <p:nvSpPr>
          <p:cNvPr id="1048679" name="Rounded Rectangle 20"/>
          <p:cNvSpPr/>
          <p:nvPr/>
        </p:nvSpPr>
        <p:spPr>
          <a:xfrm>
            <a:off x="2514600" y="3154680"/>
            <a:ext cx="1828800" cy="457200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0" name="TextBox 21"/>
          <p:cNvSpPr txBox="1"/>
          <p:nvPr/>
        </p:nvSpPr>
        <p:spPr>
          <a:xfrm>
            <a:off x="2514600" y="3248659"/>
            <a:ext cx="982980" cy="2692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68.0%  •  51</a:t>
            </a:r>
          </a:p>
        </p:txBody>
      </p:sp>
      <p:sp>
        <p:nvSpPr>
          <p:cNvPr id="1048681" name="TextBox 22"/>
          <p:cNvSpPr txBox="1"/>
          <p:nvPr/>
        </p:nvSpPr>
        <p:spPr>
          <a:xfrm>
            <a:off x="685800" y="3950969"/>
            <a:ext cx="1832690" cy="2819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232323"/>
                </a:solidFill>
                <a:latin typeface="Aptos"/>
              </a:rPr>
              <a:t>Non-advanced disease</a:t>
            </a:r>
          </a:p>
        </p:txBody>
      </p:sp>
      <p:sp>
        <p:nvSpPr>
          <p:cNvPr id="1048682" name="Rounded Rectangle 23"/>
          <p:cNvSpPr/>
          <p:nvPr/>
        </p:nvSpPr>
        <p:spPr>
          <a:xfrm>
            <a:off x="2514600" y="3886200"/>
            <a:ext cx="1828800" cy="45720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3" name="TextBox 24"/>
          <p:cNvSpPr txBox="1"/>
          <p:nvPr/>
        </p:nvSpPr>
        <p:spPr>
          <a:xfrm>
            <a:off x="2514600" y="3980179"/>
            <a:ext cx="982980" cy="2692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200">
                <a:solidFill>
                  <a:srgbClr val="FFFFFF"/>
                </a:solidFill>
                <a:latin typeface="Aptos"/>
              </a:rPr>
              <a:t>32.0%  •  24</a:t>
            </a:r>
          </a:p>
        </p:txBody>
      </p:sp>
      <p:sp>
        <p:nvSpPr>
          <p:cNvPr id="1048684" name="TextBox 25"/>
          <p:cNvSpPr txBox="1"/>
          <p:nvPr/>
        </p:nvSpPr>
        <p:spPr>
          <a:xfrm>
            <a:off x="5029200" y="2745740"/>
            <a:ext cx="2245787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ADVANCED DISEASE PROFILE</a:t>
            </a:r>
          </a:p>
        </p:txBody>
      </p:sp>
      <p:sp>
        <p:nvSpPr>
          <p:cNvPr id="1048685" name="TextBox 26"/>
          <p:cNvSpPr txBox="1"/>
          <p:nvPr/>
        </p:nvSpPr>
        <p:spPr>
          <a:xfrm>
            <a:off x="5074920" y="3201162"/>
            <a:ext cx="640081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Adults</a:t>
            </a:r>
          </a:p>
        </p:txBody>
      </p:sp>
      <p:sp>
        <p:nvSpPr>
          <p:cNvPr id="1048686" name="Rounded Rectangle 27"/>
          <p:cNvSpPr/>
          <p:nvPr/>
        </p:nvSpPr>
        <p:spPr>
          <a:xfrm>
            <a:off x="6400800" y="3182112"/>
            <a:ext cx="1143000" cy="36576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7" name="TextBox 28"/>
          <p:cNvSpPr txBox="1"/>
          <p:nvPr/>
        </p:nvSpPr>
        <p:spPr>
          <a:xfrm>
            <a:off x="6400800" y="3255772"/>
            <a:ext cx="525780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50">
                <a:solidFill>
                  <a:srgbClr val="FFFFFF"/>
                </a:solidFill>
                <a:latin typeface="Aptos"/>
              </a:rPr>
              <a:t>Male 3</a:t>
            </a:r>
          </a:p>
        </p:txBody>
      </p:sp>
      <p:sp>
        <p:nvSpPr>
          <p:cNvPr id="1048688" name="Rounded Rectangle 29"/>
          <p:cNvSpPr/>
          <p:nvPr/>
        </p:nvSpPr>
        <p:spPr>
          <a:xfrm>
            <a:off x="7662672" y="3182112"/>
            <a:ext cx="1234440" cy="365760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89" name="TextBox 30"/>
          <p:cNvSpPr txBox="1"/>
          <p:nvPr/>
        </p:nvSpPr>
        <p:spPr>
          <a:xfrm>
            <a:off x="7662672" y="3255772"/>
            <a:ext cx="651590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50">
                <a:solidFill>
                  <a:srgbClr val="FFFFFF"/>
                </a:solidFill>
                <a:latin typeface="Aptos"/>
              </a:rPr>
              <a:t>Female 2</a:t>
            </a:r>
          </a:p>
        </p:txBody>
      </p:sp>
      <p:sp>
        <p:nvSpPr>
          <p:cNvPr id="1048690" name="TextBox 31"/>
          <p:cNvSpPr txBox="1"/>
          <p:nvPr/>
        </p:nvSpPr>
        <p:spPr>
          <a:xfrm>
            <a:off x="5074920" y="3978401"/>
            <a:ext cx="1059181" cy="2819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Older Adults</a:t>
            </a:r>
          </a:p>
        </p:txBody>
      </p:sp>
      <p:sp>
        <p:nvSpPr>
          <p:cNvPr id="1048691" name="Rounded Rectangle 32"/>
          <p:cNvSpPr/>
          <p:nvPr/>
        </p:nvSpPr>
        <p:spPr>
          <a:xfrm>
            <a:off x="6400800" y="3959352"/>
            <a:ext cx="1143000" cy="36576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2" name="TextBox 33"/>
          <p:cNvSpPr txBox="1"/>
          <p:nvPr/>
        </p:nvSpPr>
        <p:spPr>
          <a:xfrm>
            <a:off x="6400800" y="4033011"/>
            <a:ext cx="589280" cy="2184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50">
                <a:solidFill>
                  <a:srgbClr val="FFFFFF"/>
                </a:solidFill>
                <a:latin typeface="Aptos"/>
              </a:rPr>
              <a:t>Male 25</a:t>
            </a:r>
          </a:p>
        </p:txBody>
      </p:sp>
      <p:sp>
        <p:nvSpPr>
          <p:cNvPr id="1048693" name="Rounded Rectangle 34"/>
          <p:cNvSpPr/>
          <p:nvPr/>
        </p:nvSpPr>
        <p:spPr>
          <a:xfrm>
            <a:off x="7662672" y="3959352"/>
            <a:ext cx="1234440" cy="365760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4" name="TextBox 35"/>
          <p:cNvSpPr txBox="1"/>
          <p:nvPr/>
        </p:nvSpPr>
        <p:spPr>
          <a:xfrm>
            <a:off x="7662672" y="4033011"/>
            <a:ext cx="715090" cy="2184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50">
                <a:solidFill>
                  <a:srgbClr val="FFFFFF"/>
                </a:solidFill>
                <a:latin typeface="Aptos"/>
              </a:rPr>
              <a:t>Female 11</a:t>
            </a:r>
          </a:p>
        </p:txBody>
      </p:sp>
      <p:sp>
        <p:nvSpPr>
          <p:cNvPr id="1048695" name="TextBox 36"/>
          <p:cNvSpPr txBox="1"/>
          <p:nvPr/>
        </p:nvSpPr>
        <p:spPr>
          <a:xfrm>
            <a:off x="5074920" y="4755642"/>
            <a:ext cx="652781" cy="2819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300">
                <a:solidFill>
                  <a:srgbClr val="16432E"/>
                </a:solidFill>
                <a:latin typeface="Aptos"/>
              </a:rPr>
              <a:t>Elderly</a:t>
            </a:r>
          </a:p>
        </p:txBody>
      </p:sp>
      <p:sp>
        <p:nvSpPr>
          <p:cNvPr id="1048696" name="Rounded Rectangle 37"/>
          <p:cNvSpPr/>
          <p:nvPr/>
        </p:nvSpPr>
        <p:spPr>
          <a:xfrm>
            <a:off x="6400800" y="4736592"/>
            <a:ext cx="1143000" cy="36576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7" name="TextBox 38"/>
          <p:cNvSpPr txBox="1"/>
          <p:nvPr/>
        </p:nvSpPr>
        <p:spPr>
          <a:xfrm>
            <a:off x="6400800" y="4810252"/>
            <a:ext cx="525780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50">
                <a:solidFill>
                  <a:srgbClr val="FFFFFF"/>
                </a:solidFill>
                <a:latin typeface="Aptos"/>
              </a:rPr>
              <a:t>Male 5</a:t>
            </a:r>
          </a:p>
        </p:txBody>
      </p:sp>
      <p:sp>
        <p:nvSpPr>
          <p:cNvPr id="1048698" name="Rounded Rectangle 39"/>
          <p:cNvSpPr/>
          <p:nvPr/>
        </p:nvSpPr>
        <p:spPr>
          <a:xfrm>
            <a:off x="7662672" y="4736592"/>
            <a:ext cx="1234440" cy="365760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99" name="TextBox 40"/>
          <p:cNvSpPr txBox="1"/>
          <p:nvPr/>
        </p:nvSpPr>
        <p:spPr>
          <a:xfrm>
            <a:off x="7662672" y="4810252"/>
            <a:ext cx="651590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50">
                <a:solidFill>
                  <a:srgbClr val="FFFFFF"/>
                </a:solidFill>
                <a:latin typeface="Aptos"/>
              </a:rPr>
              <a:t>Female 5</a:t>
            </a:r>
          </a:p>
        </p:txBody>
      </p:sp>
      <p:sp>
        <p:nvSpPr>
          <p:cNvPr id="1048700" name="TextBox 41"/>
          <p:cNvSpPr txBox="1"/>
          <p:nvPr/>
        </p:nvSpPr>
        <p:spPr>
          <a:xfrm>
            <a:off x="9098280" y="2745740"/>
            <a:ext cx="1940789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DISEASE COUNTS BY SEX</a:t>
            </a:r>
          </a:p>
        </p:txBody>
      </p:sp>
      <p:sp>
        <p:nvSpPr>
          <p:cNvPr id="1048701" name="TextBox 42"/>
          <p:cNvSpPr txBox="1"/>
          <p:nvPr/>
        </p:nvSpPr>
        <p:spPr>
          <a:xfrm>
            <a:off x="9125712" y="3212084"/>
            <a:ext cx="805180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232323"/>
                </a:solidFill>
                <a:latin typeface="Aptos"/>
              </a:rPr>
              <a:t>Hepatitis</a:t>
            </a:r>
          </a:p>
        </p:txBody>
      </p:sp>
      <p:sp>
        <p:nvSpPr>
          <p:cNvPr id="1048702" name="Rounded Rectangle 43"/>
          <p:cNvSpPr/>
          <p:nvPr/>
        </p:nvSpPr>
        <p:spPr>
          <a:xfrm>
            <a:off x="10241280" y="3191256"/>
            <a:ext cx="640080" cy="347472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3" name="TextBox 44"/>
          <p:cNvSpPr txBox="1"/>
          <p:nvPr/>
        </p:nvSpPr>
        <p:spPr>
          <a:xfrm>
            <a:off x="10241280" y="3255772"/>
            <a:ext cx="436881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M 20</a:t>
            </a:r>
          </a:p>
        </p:txBody>
      </p:sp>
      <p:sp>
        <p:nvSpPr>
          <p:cNvPr id="1048704" name="Rounded Rectangle 45"/>
          <p:cNvSpPr/>
          <p:nvPr/>
        </p:nvSpPr>
        <p:spPr>
          <a:xfrm>
            <a:off x="10954512" y="3191256"/>
            <a:ext cx="640080" cy="347472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5" name="TextBox 46"/>
          <p:cNvSpPr txBox="1"/>
          <p:nvPr/>
        </p:nvSpPr>
        <p:spPr>
          <a:xfrm>
            <a:off x="10954512" y="3255772"/>
            <a:ext cx="335280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F 4</a:t>
            </a:r>
          </a:p>
        </p:txBody>
      </p:sp>
      <p:sp>
        <p:nvSpPr>
          <p:cNvPr id="1048706" name="TextBox 47"/>
          <p:cNvSpPr txBox="1"/>
          <p:nvPr/>
        </p:nvSpPr>
        <p:spPr>
          <a:xfrm>
            <a:off x="9125712" y="3961891"/>
            <a:ext cx="727492" cy="2692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232323"/>
                </a:solidFill>
                <a:latin typeface="Aptos"/>
              </a:rPr>
              <a:t>Fibrosis</a:t>
            </a:r>
          </a:p>
        </p:txBody>
      </p:sp>
      <p:sp>
        <p:nvSpPr>
          <p:cNvPr id="1048707" name="Rounded Rectangle 48"/>
          <p:cNvSpPr/>
          <p:nvPr/>
        </p:nvSpPr>
        <p:spPr>
          <a:xfrm>
            <a:off x="10241280" y="3941064"/>
            <a:ext cx="640080" cy="347472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08" name="TextBox 49"/>
          <p:cNvSpPr txBox="1"/>
          <p:nvPr/>
        </p:nvSpPr>
        <p:spPr>
          <a:xfrm>
            <a:off x="10241280" y="4005579"/>
            <a:ext cx="436881" cy="2184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M 13</a:t>
            </a:r>
          </a:p>
        </p:txBody>
      </p:sp>
      <p:sp>
        <p:nvSpPr>
          <p:cNvPr id="1048709" name="Rounded Rectangle 50"/>
          <p:cNvSpPr/>
          <p:nvPr/>
        </p:nvSpPr>
        <p:spPr>
          <a:xfrm>
            <a:off x="10954512" y="3941064"/>
            <a:ext cx="640080" cy="347472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0" name="TextBox 51"/>
          <p:cNvSpPr txBox="1"/>
          <p:nvPr/>
        </p:nvSpPr>
        <p:spPr>
          <a:xfrm>
            <a:off x="10954512" y="4005579"/>
            <a:ext cx="335280" cy="2184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F 8</a:t>
            </a:r>
          </a:p>
        </p:txBody>
      </p:sp>
      <p:sp>
        <p:nvSpPr>
          <p:cNvPr id="1048711" name="TextBox 52"/>
          <p:cNvSpPr txBox="1"/>
          <p:nvPr/>
        </p:nvSpPr>
        <p:spPr>
          <a:xfrm>
            <a:off x="9125712" y="4711700"/>
            <a:ext cx="792480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232323"/>
                </a:solidFill>
                <a:latin typeface="Aptos"/>
              </a:rPr>
              <a:t>Cirrhosis</a:t>
            </a:r>
          </a:p>
        </p:txBody>
      </p:sp>
      <p:sp>
        <p:nvSpPr>
          <p:cNvPr id="1048712" name="Rounded Rectangle 53"/>
          <p:cNvSpPr/>
          <p:nvPr/>
        </p:nvSpPr>
        <p:spPr>
          <a:xfrm>
            <a:off x="10241280" y="4690872"/>
            <a:ext cx="640080" cy="347472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3" name="TextBox 54"/>
          <p:cNvSpPr txBox="1"/>
          <p:nvPr/>
        </p:nvSpPr>
        <p:spPr>
          <a:xfrm>
            <a:off x="10241280" y="4755388"/>
            <a:ext cx="436881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M 20</a:t>
            </a:r>
          </a:p>
        </p:txBody>
      </p:sp>
      <p:sp>
        <p:nvSpPr>
          <p:cNvPr id="1048714" name="Rounded Rectangle 55"/>
          <p:cNvSpPr/>
          <p:nvPr/>
        </p:nvSpPr>
        <p:spPr>
          <a:xfrm>
            <a:off x="10954512" y="4690872"/>
            <a:ext cx="640080" cy="347472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715" name="TextBox 56"/>
          <p:cNvSpPr txBox="1"/>
          <p:nvPr/>
        </p:nvSpPr>
        <p:spPr>
          <a:xfrm>
            <a:off x="10954512" y="4755388"/>
            <a:ext cx="398780" cy="2184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900">
                <a:solidFill>
                  <a:srgbClr val="FFFFFF"/>
                </a:solidFill>
                <a:latin typeface="Aptos"/>
              </a:rPr>
              <a:t>F 10</a:t>
            </a:r>
          </a:p>
        </p:txBody>
      </p:sp>
      <p:sp>
        <p:nvSpPr>
          <p:cNvPr id="1048716" name="TextBox 57"/>
          <p:cNvSpPr txBox="1"/>
          <p:nvPr/>
        </p:nvSpPr>
        <p:spPr>
          <a:xfrm>
            <a:off x="685800" y="5711190"/>
            <a:ext cx="9197996" cy="2819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300">
                <a:solidFill>
                  <a:srgbClr val="16432E"/>
                </a:solidFill>
                <a:latin typeface="Aptos"/>
              </a:rPr>
              <a:t>Key pattern: older adults account for the largest share of advanced disease, with higher male counts in each disease category.</a:t>
            </a:r>
          </a:p>
        </p:txBody>
      </p:sp>
      <p:sp>
        <p:nvSpPr>
          <p:cNvPr id="1048717" name="TextBox 58"/>
          <p:cNvSpPr txBox="1"/>
          <p:nvPr/>
        </p:nvSpPr>
        <p:spPr>
          <a:xfrm>
            <a:off x="612648" y="6499098"/>
            <a:ext cx="1696115" cy="205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sz="850">
                <a:solidFill>
                  <a:srgbClr val="696969"/>
                </a:solidFill>
                <a:latin typeface="Aptos"/>
              </a:rPr>
              <a:t>HEPATITIS DATA ANALYTICS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extBox 1"/>
          <p:cNvSpPr txBox="1"/>
          <p:nvPr/>
        </p:nvSpPr>
        <p:spPr>
          <a:xfrm>
            <a:off x="594360" y="316231"/>
            <a:ext cx="9725194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800">
                <a:solidFill>
                  <a:srgbClr val="16432E"/>
                </a:solidFill>
                <a:latin typeface="Aptos"/>
              </a:rPr>
              <a:t>Dashboard 3 — Disease Progression vs Laboratory Indicators</a:t>
            </a:r>
          </a:p>
        </p:txBody>
      </p:sp>
      <p:sp>
        <p:nvSpPr>
          <p:cNvPr id="1048643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4" name="TextBox 3"/>
          <p:cNvSpPr txBox="1"/>
          <p:nvPr/>
        </p:nvSpPr>
        <p:spPr>
          <a:xfrm>
            <a:off x="658368" y="1259840"/>
            <a:ext cx="3903633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696969"/>
                </a:solidFill>
                <a:latin typeface="Aptos"/>
              </a:rPr>
              <a:t>AVERAGE LAB VALUES ACROSS DISEASE CATEGORIES</a:t>
            </a:r>
          </a:p>
        </p:txBody>
      </p:sp>
      <p:sp>
        <p:nvSpPr>
          <p:cNvPr id="1048645" name="Rounded Rectangle 4"/>
          <p:cNvSpPr/>
          <p:nvPr/>
        </p:nvSpPr>
        <p:spPr>
          <a:xfrm>
            <a:off x="758037" y="1764481"/>
            <a:ext cx="2514600" cy="96012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6" name="TextBox 5"/>
          <p:cNvSpPr txBox="1"/>
          <p:nvPr/>
        </p:nvSpPr>
        <p:spPr>
          <a:xfrm>
            <a:off x="822959" y="1883409"/>
            <a:ext cx="436880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ALB</a:t>
            </a:r>
          </a:p>
        </p:txBody>
      </p:sp>
      <p:sp>
        <p:nvSpPr>
          <p:cNvPr id="1048647" name="TextBox 6"/>
          <p:cNvSpPr txBox="1"/>
          <p:nvPr/>
        </p:nvSpPr>
        <p:spPr>
          <a:xfrm>
            <a:off x="822959" y="2266187"/>
            <a:ext cx="2392680" cy="3962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000">
                <a:solidFill>
                  <a:srgbClr val="1F593D"/>
                </a:solidFill>
                <a:latin typeface="Aptos"/>
              </a:rPr>
              <a:t>43.8 → 41.8 → 32.8</a:t>
            </a:r>
          </a:p>
        </p:txBody>
      </p:sp>
      <p:sp>
        <p:nvSpPr>
          <p:cNvPr id="1048648" name="Rounded Rectangle 7"/>
          <p:cNvSpPr/>
          <p:nvPr/>
        </p:nvSpPr>
        <p:spPr>
          <a:xfrm>
            <a:off x="3535969" y="1737360"/>
            <a:ext cx="2816352" cy="859536"/>
          </a:xfrm>
          <a:prstGeom prst="roundRect"/>
          <a:solidFill>
            <a:srgbClr val="FFFFFF"/>
          </a:solidFill>
          <a:ln w="1524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49" name="TextBox 8"/>
          <p:cNvSpPr txBox="1"/>
          <p:nvPr/>
        </p:nvSpPr>
        <p:spPr>
          <a:xfrm>
            <a:off x="3657600" y="1883409"/>
            <a:ext cx="418128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ALT</a:t>
            </a:r>
          </a:p>
        </p:txBody>
      </p:sp>
      <p:sp>
        <p:nvSpPr>
          <p:cNvPr id="1048650" name="TextBox 9"/>
          <p:cNvSpPr txBox="1"/>
          <p:nvPr/>
        </p:nvSpPr>
        <p:spPr>
          <a:xfrm>
            <a:off x="3657600" y="2266187"/>
            <a:ext cx="2392680" cy="3962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000">
                <a:solidFill>
                  <a:srgbClr val="F2A384"/>
                </a:solidFill>
                <a:latin typeface="Aptos"/>
              </a:rPr>
              <a:t>26.7 → 59.6 → 23.0</a:t>
            </a:r>
          </a:p>
        </p:txBody>
      </p:sp>
      <p:sp>
        <p:nvSpPr>
          <p:cNvPr id="1048651" name="Rounded Rectangle 10"/>
          <p:cNvSpPr/>
          <p:nvPr/>
        </p:nvSpPr>
        <p:spPr>
          <a:xfrm>
            <a:off x="757572" y="2980944"/>
            <a:ext cx="2514600" cy="960120"/>
          </a:xfrm>
          <a:prstGeom prst="roundRect"/>
          <a:solidFill>
            <a:srgbClr val="FFFFFF"/>
          </a:solidFill>
          <a:ln w="1524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2" name="TextBox 11"/>
          <p:cNvSpPr txBox="1"/>
          <p:nvPr/>
        </p:nvSpPr>
        <p:spPr>
          <a:xfrm>
            <a:off x="822959" y="3026410"/>
            <a:ext cx="449580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AST</a:t>
            </a:r>
          </a:p>
        </p:txBody>
      </p:sp>
      <p:sp>
        <p:nvSpPr>
          <p:cNvPr id="1048653" name="TextBox 12"/>
          <p:cNvSpPr txBox="1"/>
          <p:nvPr/>
        </p:nvSpPr>
        <p:spPr>
          <a:xfrm>
            <a:off x="758037" y="3314844"/>
            <a:ext cx="2532380" cy="3962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000">
                <a:solidFill>
                  <a:srgbClr val="B7708F"/>
                </a:solidFill>
                <a:latin typeface="Aptos"/>
              </a:rPr>
              <a:t>75.7 → 81.2 → 107.5</a:t>
            </a:r>
          </a:p>
        </p:txBody>
      </p:sp>
      <p:sp>
        <p:nvSpPr>
          <p:cNvPr id="1048654" name="Rounded Rectangle 13"/>
          <p:cNvSpPr/>
          <p:nvPr/>
        </p:nvSpPr>
        <p:spPr>
          <a:xfrm>
            <a:off x="3535969" y="3076956"/>
            <a:ext cx="2816352" cy="868680"/>
          </a:xfrm>
          <a:prstGeom prst="roundRect"/>
          <a:solidFill>
            <a:srgbClr val="FFFFFF"/>
          </a:solidFill>
          <a:ln w="1524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55" name="TextBox 14"/>
          <p:cNvSpPr txBox="1"/>
          <p:nvPr/>
        </p:nvSpPr>
        <p:spPr>
          <a:xfrm>
            <a:off x="3657600" y="3041239"/>
            <a:ext cx="386081" cy="2565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100">
                <a:solidFill>
                  <a:srgbClr val="696969"/>
                </a:solidFill>
                <a:latin typeface="Aptos"/>
              </a:rPr>
              <a:t>BIL</a:t>
            </a:r>
          </a:p>
        </p:txBody>
      </p:sp>
      <p:sp>
        <p:nvSpPr>
          <p:cNvPr id="1048656" name="TextBox 15"/>
          <p:cNvSpPr txBox="1"/>
          <p:nvPr/>
        </p:nvSpPr>
        <p:spPr>
          <a:xfrm>
            <a:off x="3657600" y="3409188"/>
            <a:ext cx="2392680" cy="396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2000">
                <a:solidFill>
                  <a:srgbClr val="1F593D"/>
                </a:solidFill>
                <a:latin typeface="Aptos"/>
              </a:rPr>
              <a:t>15.6 → 13.4 → 59.1</a:t>
            </a:r>
          </a:p>
        </p:txBody>
      </p:sp>
      <p:graphicFrame>
        <p:nvGraphicFramePr>
          <p:cNvPr id="4194304" name="Chart 16"/>
          <p:cNvGraphicFramePr>
            <a:graphicFrameLocks noGrp="1"/>
          </p:cNvGraphicFramePr>
          <p:nvPr/>
        </p:nvGraphicFramePr>
        <p:xfrm>
          <a:off x="6836954" y="1737360"/>
          <a:ext cx="5166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48657" name="TextBox 17"/>
          <p:cNvSpPr txBox="1"/>
          <p:nvPr/>
        </p:nvSpPr>
        <p:spPr>
          <a:xfrm>
            <a:off x="658368" y="4368800"/>
            <a:ext cx="1967826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200">
                <a:solidFill>
                  <a:srgbClr val="B7708F"/>
                </a:solidFill>
                <a:latin typeface="Aptos"/>
              </a:rPr>
              <a:t>ANALYTICAL HIGHLIGHTS</a:t>
            </a:r>
          </a:p>
        </p:txBody>
      </p:sp>
      <p:sp>
        <p:nvSpPr>
          <p:cNvPr id="1048658" name="TextBox 18"/>
          <p:cNvSpPr txBox="1"/>
          <p:nvPr/>
        </p:nvSpPr>
        <p:spPr>
          <a:xfrm>
            <a:off x="685800" y="4709160"/>
            <a:ext cx="5623560" cy="1323339"/>
          </a:xfrm>
          <a:prstGeom prst="rect"/>
          <a:noFill/>
        </p:spPr>
        <p:txBody>
          <a:bodyPr wrap="square">
            <a:spAutoFit/>
          </a:bodyPr>
          <a:p>
            <a:pPr>
              <a:spcAft>
                <a:spcPts val="9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dirty="0"/>
              <a:t>•  ALB declines notably from hepatitis to cirrhosis.</a:t>
            </a:r>
          </a:p>
          <a:p>
            <a:pPr>
              <a:spcAft>
                <a:spcPts val="9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dirty="0"/>
              <a:t>•  AST rises across the progression pattern, reaching its highest average in cirrhosis.</a:t>
            </a:r>
          </a:p>
          <a:p>
            <a:pPr>
              <a:spcAft>
                <a:spcPts val="9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dirty="0"/>
              <a:t>•  BIL shows a marked increase in cirrhosis.</a:t>
            </a:r>
          </a:p>
          <a:p>
            <a:pPr>
              <a:spcAft>
                <a:spcPts val="900"/>
              </a:spcAft>
              <a:defRPr sz="1250">
                <a:solidFill>
                  <a:srgbClr val="232323"/>
                </a:solidFill>
                <a:latin typeface="Aptos"/>
              </a:defRPr>
            </a:pPr>
            <a:r>
              <a:rPr dirty="0"/>
              <a:t>•  ALT peaks in fibrosis, indicating a distinct intermediate-stage pattern.</a:t>
            </a:r>
          </a:p>
        </p:txBody>
      </p:sp>
      <p:sp>
        <p:nvSpPr>
          <p:cNvPr id="1048659" name="TextBox 19"/>
          <p:cNvSpPr txBox="1"/>
          <p:nvPr/>
        </p:nvSpPr>
        <p:spPr>
          <a:xfrm>
            <a:off x="612648" y="6486397"/>
            <a:ext cx="2068135" cy="2311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050">
                <a:solidFill>
                  <a:srgbClr val="696969"/>
                </a:solidFill>
                <a:latin typeface="Aptos"/>
              </a:rPr>
              <a:t>HEPATITIS DATA ANALYTICS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0"/>
        </a:solidFill>
        <a:effectLst/>
      </p:bgPr>
    </p:bg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TextBox 1"/>
          <p:cNvSpPr txBox="1"/>
          <p:nvPr/>
        </p:nvSpPr>
        <p:spPr>
          <a:xfrm>
            <a:off x="594360" y="316231"/>
            <a:ext cx="2182733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800">
                <a:solidFill>
                  <a:srgbClr val="16432E"/>
                </a:solidFill>
                <a:latin typeface="Aptos"/>
              </a:rPr>
              <a:t>Key Findings</a:t>
            </a:r>
          </a:p>
        </p:txBody>
      </p:sp>
      <p:sp>
        <p:nvSpPr>
          <p:cNvPr id="1048621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2" name="TextBox 3"/>
          <p:cNvSpPr txBox="1"/>
          <p:nvPr/>
        </p:nvSpPr>
        <p:spPr>
          <a:xfrm>
            <a:off x="612648" y="953770"/>
            <a:ext cx="2418080" cy="3327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600">
                <a:solidFill>
                  <a:srgbClr val="696969"/>
                </a:solidFill>
                <a:latin typeface="Aptos"/>
              </a:rPr>
              <a:t>What the analysis shows</a:t>
            </a:r>
          </a:p>
        </p:txBody>
      </p:sp>
      <p:sp>
        <p:nvSpPr>
          <p:cNvPr id="1048623" name="Rounded Rectangle 4"/>
          <p:cNvSpPr/>
          <p:nvPr/>
        </p:nvSpPr>
        <p:spPr>
          <a:xfrm>
            <a:off x="685800" y="1325880"/>
            <a:ext cx="502920" cy="50292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4" name="TextBox 5"/>
          <p:cNvSpPr txBox="1"/>
          <p:nvPr/>
        </p:nvSpPr>
        <p:spPr>
          <a:xfrm>
            <a:off x="685800" y="1449069"/>
            <a:ext cx="335281" cy="2565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48625" name="TextBox 6"/>
          <p:cNvSpPr txBox="1"/>
          <p:nvPr/>
        </p:nvSpPr>
        <p:spPr>
          <a:xfrm>
            <a:off x="1417320" y="1321308"/>
            <a:ext cx="4228495" cy="320040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Patient profile</a:t>
            </a:r>
          </a:p>
        </p:txBody>
      </p:sp>
      <p:sp>
        <p:nvSpPr>
          <p:cNvPr id="1048626" name="TextBox 7"/>
          <p:cNvSpPr txBox="1"/>
          <p:nvPr/>
        </p:nvSpPr>
        <p:spPr>
          <a:xfrm>
            <a:off x="3337560" y="1516887"/>
            <a:ext cx="7894161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The dataset contains 615 patients, with males representing 61.3% and an average age of 47 years.</a:t>
            </a:r>
          </a:p>
        </p:txBody>
      </p:sp>
      <p:sp>
        <p:nvSpPr>
          <p:cNvPr id="1048627" name="Rounded Rectangle 8"/>
          <p:cNvSpPr/>
          <p:nvPr/>
        </p:nvSpPr>
        <p:spPr>
          <a:xfrm>
            <a:off x="685800" y="2514600"/>
            <a:ext cx="502920" cy="502920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28" name="TextBox 9"/>
          <p:cNvSpPr txBox="1"/>
          <p:nvPr/>
        </p:nvSpPr>
        <p:spPr>
          <a:xfrm>
            <a:off x="685800" y="2637790"/>
            <a:ext cx="335281" cy="2565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48629" name="TextBox 10"/>
          <p:cNvSpPr txBox="1"/>
          <p:nvPr/>
        </p:nvSpPr>
        <p:spPr>
          <a:xfrm>
            <a:off x="1417320" y="2510028"/>
            <a:ext cx="1489194" cy="320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Disease burden</a:t>
            </a:r>
          </a:p>
        </p:txBody>
      </p:sp>
      <p:sp>
        <p:nvSpPr>
          <p:cNvPr id="1048630" name="TextBox 11"/>
          <p:cNvSpPr txBox="1"/>
          <p:nvPr/>
        </p:nvSpPr>
        <p:spPr>
          <a:xfrm>
            <a:off x="3337560" y="2705607"/>
            <a:ext cx="8724870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Among diagnosed disease cases (n=75), advanced disease accounts for 68%, driven by fibrosis and cirrhosis.</a:t>
            </a:r>
          </a:p>
        </p:txBody>
      </p:sp>
      <p:sp>
        <p:nvSpPr>
          <p:cNvPr id="1048631" name="Rounded Rectangle 12"/>
          <p:cNvSpPr/>
          <p:nvPr/>
        </p:nvSpPr>
        <p:spPr>
          <a:xfrm>
            <a:off x="685800" y="3703320"/>
            <a:ext cx="502920" cy="502920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2" name="TextBox 13"/>
          <p:cNvSpPr txBox="1"/>
          <p:nvPr/>
        </p:nvSpPr>
        <p:spPr>
          <a:xfrm>
            <a:off x="685800" y="3826509"/>
            <a:ext cx="335281" cy="2565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48633" name="TextBox 14"/>
          <p:cNvSpPr txBox="1"/>
          <p:nvPr/>
        </p:nvSpPr>
        <p:spPr>
          <a:xfrm>
            <a:off x="1417320" y="3698747"/>
            <a:ext cx="1957160" cy="3200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Demographic pattern</a:t>
            </a:r>
          </a:p>
        </p:txBody>
      </p:sp>
      <p:sp>
        <p:nvSpPr>
          <p:cNvPr id="1048634" name="TextBox 15"/>
          <p:cNvSpPr txBox="1"/>
          <p:nvPr/>
        </p:nvSpPr>
        <p:spPr>
          <a:xfrm>
            <a:off x="3337560" y="3894326"/>
            <a:ext cx="9384923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Older adults have the highest advanced-disease counts, and males show higher counts across the disease categories</a:t>
            </a:r>
            <a:r>
              <a:rPr b="0" dirty="0" sz="1300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048635" name="Rounded Rectangle 16"/>
          <p:cNvSpPr/>
          <p:nvPr/>
        </p:nvSpPr>
        <p:spPr>
          <a:xfrm>
            <a:off x="685800" y="4892040"/>
            <a:ext cx="502920" cy="50292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36" name="TextBox 17"/>
          <p:cNvSpPr txBox="1"/>
          <p:nvPr/>
        </p:nvSpPr>
        <p:spPr>
          <a:xfrm>
            <a:off x="685800" y="5015229"/>
            <a:ext cx="335281" cy="2565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10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48637" name="TextBox 18"/>
          <p:cNvSpPr txBox="1"/>
          <p:nvPr/>
        </p:nvSpPr>
        <p:spPr>
          <a:xfrm>
            <a:off x="1417320" y="4887467"/>
            <a:ext cx="1741111" cy="3200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Laboratory pattern</a:t>
            </a:r>
          </a:p>
        </p:txBody>
      </p:sp>
      <p:sp>
        <p:nvSpPr>
          <p:cNvPr id="1048638" name="TextBox 19"/>
          <p:cNvSpPr txBox="1"/>
          <p:nvPr/>
        </p:nvSpPr>
        <p:spPr>
          <a:xfrm>
            <a:off x="3337560" y="5083047"/>
            <a:ext cx="7783234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400">
                <a:solidFill>
                  <a:srgbClr val="232323"/>
                </a:solidFill>
                <a:latin typeface="Aptos"/>
              </a:rPr>
              <a:t>ALB falls with progression, while AST and BIL increase markedly in cirrhosis; ALT peaks in fibrosis</a:t>
            </a:r>
            <a:r>
              <a:rPr b="0" dirty="0" sz="1300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048639" name="TextBox 20"/>
          <p:cNvSpPr txBox="1"/>
          <p:nvPr/>
        </p:nvSpPr>
        <p:spPr>
          <a:xfrm>
            <a:off x="685800" y="5979160"/>
            <a:ext cx="1295866" cy="294641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dirty="0" sz="1400">
                <a:solidFill>
                  <a:srgbClr val="696969"/>
                </a:solidFill>
                <a:latin typeface="Aptos"/>
              </a:rPr>
              <a:t>Overall insight</a:t>
            </a:r>
          </a:p>
        </p:txBody>
      </p:sp>
      <p:sp>
        <p:nvSpPr>
          <p:cNvPr id="1048640" name="TextBox 21"/>
          <p:cNvSpPr txBox="1"/>
          <p:nvPr/>
        </p:nvSpPr>
        <p:spPr>
          <a:xfrm>
            <a:off x="2218257" y="5799331"/>
            <a:ext cx="9555480" cy="584775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dirty="0" sz="1600">
                <a:solidFill>
                  <a:srgbClr val="16432E"/>
                </a:solidFill>
                <a:latin typeface="Aptos"/>
              </a:rPr>
              <a:t>The strongest analytical signal is the concentration of advanced disease among older adults and the accompanying changes in key laboratory indicators.</a:t>
            </a:r>
          </a:p>
        </p:txBody>
      </p:sp>
      <p:sp>
        <p:nvSpPr>
          <p:cNvPr id="1048641" name="TextBox 22"/>
          <p:cNvSpPr txBox="1"/>
          <p:nvPr/>
        </p:nvSpPr>
        <p:spPr>
          <a:xfrm>
            <a:off x="612648" y="6486397"/>
            <a:ext cx="2068135" cy="2311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dirty="0" sz="1050">
                <a:solidFill>
                  <a:srgbClr val="696969"/>
                </a:solidFill>
                <a:latin typeface="Aptos"/>
              </a:rPr>
              <a:t>HEPATITIS DATA ANALYTICS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TextBox 1"/>
          <p:cNvSpPr txBox="1"/>
          <p:nvPr/>
        </p:nvSpPr>
        <p:spPr>
          <a:xfrm>
            <a:off x="594360" y="316231"/>
            <a:ext cx="3167381" cy="5105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2800">
                <a:solidFill>
                  <a:srgbClr val="16432E"/>
                </a:solidFill>
                <a:latin typeface="Aptos"/>
              </a:rPr>
              <a:t>Recommendations</a:t>
            </a:r>
          </a:p>
        </p:txBody>
      </p:sp>
      <p:sp>
        <p:nvSpPr>
          <p:cNvPr id="1048585" name="Rectangle 2"/>
          <p:cNvSpPr/>
          <p:nvPr/>
        </p:nvSpPr>
        <p:spPr>
          <a:xfrm>
            <a:off x="612648" y="896112"/>
            <a:ext cx="1005840" cy="54864"/>
          </a:xfrm>
          <a:prstGeom prst="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6" name="TextBox 3"/>
          <p:cNvSpPr txBox="1"/>
          <p:nvPr/>
        </p:nvSpPr>
        <p:spPr>
          <a:xfrm>
            <a:off x="612648" y="985520"/>
            <a:ext cx="3457992" cy="2692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0" sz="1250">
                <a:solidFill>
                  <a:srgbClr val="696969"/>
                </a:solidFill>
                <a:latin typeface="Aptos"/>
              </a:rPr>
              <a:t>Data-informed actions arising from the analysis</a:t>
            </a:r>
          </a:p>
        </p:txBody>
      </p:sp>
      <p:sp>
        <p:nvSpPr>
          <p:cNvPr id="1048587" name="Rounded Rectangle 4"/>
          <p:cNvSpPr/>
          <p:nvPr/>
        </p:nvSpPr>
        <p:spPr>
          <a:xfrm>
            <a:off x="685800" y="1417320"/>
            <a:ext cx="5166360" cy="1645920"/>
          </a:xfrm>
          <a:prstGeom prst="roundRect"/>
          <a:solidFill>
            <a:srgbClr val="FFFFFF"/>
          </a:solidFill>
          <a:ln w="1651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8" name="Rounded Rectangle 5"/>
          <p:cNvSpPr/>
          <p:nvPr/>
        </p:nvSpPr>
        <p:spPr>
          <a:xfrm>
            <a:off x="886968" y="1618488"/>
            <a:ext cx="457200" cy="45720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89" name="TextBox 6"/>
          <p:cNvSpPr txBox="1"/>
          <p:nvPr/>
        </p:nvSpPr>
        <p:spPr>
          <a:xfrm>
            <a:off x="886968" y="1731517"/>
            <a:ext cx="335280" cy="2311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048590" name="TextBox 7"/>
          <p:cNvSpPr txBox="1"/>
          <p:nvPr/>
        </p:nvSpPr>
        <p:spPr>
          <a:xfrm>
            <a:off x="1554480" y="1595628"/>
            <a:ext cx="1933645" cy="320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Prioritise monitoring</a:t>
            </a:r>
          </a:p>
        </p:txBody>
      </p:sp>
      <p:sp>
        <p:nvSpPr>
          <p:cNvPr id="1048591" name="TextBox 8"/>
          <p:cNvSpPr txBox="1"/>
          <p:nvPr/>
        </p:nvSpPr>
        <p:spPr>
          <a:xfrm>
            <a:off x="1554480" y="2273306"/>
            <a:ext cx="3641634" cy="447040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250">
                <a:solidFill>
                  <a:srgbClr val="232323"/>
                </a:solidFill>
                <a:latin typeface="Aptos"/>
              </a:rPr>
              <a:t>Give closer follow-up to patients with advanced disease, particularly older adult</a:t>
            </a:r>
            <a:r>
              <a:rPr b="0" dirty="0" sz="1250" lang="en-US">
                <a:solidFill>
                  <a:srgbClr val="232323"/>
                </a:solidFill>
                <a:latin typeface="Aptos"/>
              </a:rPr>
              <a:t> males</a:t>
            </a:r>
            <a:r>
              <a:rPr b="0" dirty="0" sz="1250">
                <a:solidFill>
                  <a:srgbClr val="232323"/>
                </a:solidFill>
                <a:latin typeface="Aptos"/>
              </a:rPr>
              <a:t>.</a:t>
            </a:r>
          </a:p>
        </p:txBody>
      </p:sp>
      <p:sp>
        <p:nvSpPr>
          <p:cNvPr id="1048592" name="Rounded Rectangle 9"/>
          <p:cNvSpPr/>
          <p:nvPr/>
        </p:nvSpPr>
        <p:spPr>
          <a:xfrm>
            <a:off x="6309360" y="1417320"/>
            <a:ext cx="5166360" cy="1645920"/>
          </a:xfrm>
          <a:prstGeom prst="roundRect"/>
          <a:solidFill>
            <a:srgbClr val="FFFFFF"/>
          </a:solidFill>
          <a:ln w="16510">
            <a:solidFill>
              <a:srgbClr val="F2A3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3" name="Rounded Rectangle 10"/>
          <p:cNvSpPr/>
          <p:nvPr/>
        </p:nvSpPr>
        <p:spPr>
          <a:xfrm>
            <a:off x="6510528" y="1618488"/>
            <a:ext cx="457200" cy="457200"/>
          </a:xfrm>
          <a:prstGeom prst="roundRect"/>
          <a:solidFill>
            <a:srgbClr val="F2A3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4" name="TextBox 11"/>
          <p:cNvSpPr txBox="1"/>
          <p:nvPr/>
        </p:nvSpPr>
        <p:spPr>
          <a:xfrm>
            <a:off x="6510528" y="1731517"/>
            <a:ext cx="335280" cy="231142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48595" name="TextBox 12"/>
          <p:cNvSpPr txBox="1"/>
          <p:nvPr/>
        </p:nvSpPr>
        <p:spPr>
          <a:xfrm>
            <a:off x="7178040" y="1595628"/>
            <a:ext cx="2403595" cy="320040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Strengthen early detection</a:t>
            </a:r>
          </a:p>
        </p:txBody>
      </p:sp>
      <p:sp>
        <p:nvSpPr>
          <p:cNvPr id="1048596" name="TextBox 13"/>
          <p:cNvSpPr txBox="1"/>
          <p:nvPr/>
        </p:nvSpPr>
        <p:spPr>
          <a:xfrm>
            <a:off x="7178040" y="2070240"/>
            <a:ext cx="3840480" cy="624838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250">
                <a:solidFill>
                  <a:srgbClr val="232323"/>
                </a:solidFill>
                <a:latin typeface="Aptos"/>
              </a:rPr>
              <a:t>Use demographic and diagnostic patterns to support earlier identification and assessment of at-risk patients.</a:t>
            </a:r>
          </a:p>
        </p:txBody>
      </p:sp>
      <p:sp>
        <p:nvSpPr>
          <p:cNvPr id="1048597" name="Rounded Rectangle 14"/>
          <p:cNvSpPr/>
          <p:nvPr/>
        </p:nvSpPr>
        <p:spPr>
          <a:xfrm>
            <a:off x="685800" y="3566160"/>
            <a:ext cx="5166360" cy="1645920"/>
          </a:xfrm>
          <a:prstGeom prst="roundRect"/>
          <a:solidFill>
            <a:srgbClr val="FFFFFF"/>
          </a:solidFill>
          <a:ln w="16510">
            <a:solidFill>
              <a:srgbClr val="B770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8" name="Rounded Rectangle 15"/>
          <p:cNvSpPr/>
          <p:nvPr/>
        </p:nvSpPr>
        <p:spPr>
          <a:xfrm>
            <a:off x="886968" y="3767328"/>
            <a:ext cx="457200" cy="457200"/>
          </a:xfrm>
          <a:prstGeom prst="roundRect"/>
          <a:solidFill>
            <a:srgbClr val="B77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599" name="TextBox 16"/>
          <p:cNvSpPr txBox="1"/>
          <p:nvPr/>
        </p:nvSpPr>
        <p:spPr>
          <a:xfrm>
            <a:off x="886968" y="3880358"/>
            <a:ext cx="335280" cy="2311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048600" name="TextBox 17"/>
          <p:cNvSpPr txBox="1"/>
          <p:nvPr/>
        </p:nvSpPr>
        <p:spPr>
          <a:xfrm>
            <a:off x="1554480" y="3744467"/>
            <a:ext cx="2347090" cy="3200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Monitor laboratory trends</a:t>
            </a:r>
          </a:p>
        </p:txBody>
      </p:sp>
      <p:sp>
        <p:nvSpPr>
          <p:cNvPr id="1048601" name="TextBox 18"/>
          <p:cNvSpPr txBox="1"/>
          <p:nvPr/>
        </p:nvSpPr>
        <p:spPr>
          <a:xfrm>
            <a:off x="1554480" y="4384917"/>
            <a:ext cx="3840480" cy="447042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250">
                <a:solidFill>
                  <a:srgbClr val="232323"/>
                </a:solidFill>
                <a:latin typeface="Aptos"/>
              </a:rPr>
              <a:t>Pay particular attention to changes in ALB, AST and BIL when assessing disease progression.</a:t>
            </a:r>
          </a:p>
        </p:txBody>
      </p:sp>
      <p:sp>
        <p:nvSpPr>
          <p:cNvPr id="1048602" name="Rounded Rectangle 19"/>
          <p:cNvSpPr/>
          <p:nvPr/>
        </p:nvSpPr>
        <p:spPr>
          <a:xfrm>
            <a:off x="6309360" y="3566160"/>
            <a:ext cx="5166360" cy="1645920"/>
          </a:xfrm>
          <a:prstGeom prst="roundRect"/>
          <a:solidFill>
            <a:srgbClr val="FFFFFF"/>
          </a:solidFill>
          <a:ln w="16510">
            <a:solidFill>
              <a:srgbClr val="1F5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3" name="Rounded Rectangle 20"/>
          <p:cNvSpPr/>
          <p:nvPr/>
        </p:nvSpPr>
        <p:spPr>
          <a:xfrm>
            <a:off x="6510528" y="3767328"/>
            <a:ext cx="457200" cy="457200"/>
          </a:xfrm>
          <a:prstGeom prst="roundRect"/>
          <a:solidFill>
            <a:srgbClr val="1F5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04" name="TextBox 21"/>
          <p:cNvSpPr txBox="1"/>
          <p:nvPr/>
        </p:nvSpPr>
        <p:spPr>
          <a:xfrm>
            <a:off x="6510528" y="3880358"/>
            <a:ext cx="335280" cy="2311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00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048605" name="TextBox 22"/>
          <p:cNvSpPr txBox="1"/>
          <p:nvPr/>
        </p:nvSpPr>
        <p:spPr>
          <a:xfrm>
            <a:off x="7178040" y="3744467"/>
            <a:ext cx="2912091" cy="320042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1500">
                <a:solidFill>
                  <a:srgbClr val="16432E"/>
                </a:solidFill>
                <a:latin typeface="Aptos"/>
              </a:rPr>
              <a:t>Use dashboards for surveillance</a:t>
            </a:r>
          </a:p>
        </p:txBody>
      </p:sp>
      <p:sp>
        <p:nvSpPr>
          <p:cNvPr id="1048606" name="TextBox 23"/>
          <p:cNvSpPr txBox="1"/>
          <p:nvPr/>
        </p:nvSpPr>
        <p:spPr>
          <a:xfrm>
            <a:off x="7178040" y="4280698"/>
            <a:ext cx="4099560" cy="624840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0" dirty="0" sz="1250">
                <a:solidFill>
                  <a:srgbClr val="232323"/>
                </a:solidFill>
                <a:latin typeface="Aptos"/>
              </a:rPr>
              <a:t>Maintain interactive Power BI reporting to track patient distribution, risk patterns and laboratory changes over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32E"/>
        </a:solidFill>
        <a:effectLst/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extBox 1"/>
          <p:cNvSpPr txBox="1"/>
          <p:nvPr/>
        </p:nvSpPr>
        <p:spPr>
          <a:xfrm>
            <a:off x="685800" y="695961"/>
            <a:ext cx="2686765" cy="574038"/>
          </a:xfrm>
          <a:prstGeom prst="rect"/>
          <a:noFill/>
        </p:spPr>
        <p:txBody>
          <a:bodyPr anchor="ctr" wrap="none">
            <a:spAutoFit/>
          </a:bodyPr>
          <a:p>
            <a:pPr algn="l"/>
            <a:r>
              <a:rPr b="1" sz="320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1048608" name="TextBox 2"/>
          <p:cNvSpPr txBox="1"/>
          <p:nvPr/>
        </p:nvSpPr>
        <p:spPr>
          <a:xfrm>
            <a:off x="713232" y="1742948"/>
            <a:ext cx="9882197" cy="802641"/>
          </a:xfrm>
          <a:prstGeom prst="rect"/>
          <a:noFill/>
        </p:spPr>
        <p:txBody>
          <a:bodyPr anchor="ctr" wrap="square">
            <a:spAutoFit/>
          </a:bodyPr>
          <a:p>
            <a:pPr algn="l"/>
            <a:r>
              <a:rPr b="1" dirty="0" sz="2400">
                <a:solidFill>
                  <a:srgbClr val="FFFFFF"/>
                </a:solidFill>
                <a:latin typeface="Aptos"/>
              </a:rPr>
              <a:t>The analysis provides a clear view of patient distribution, demographic risk patterns and laboratory changes across disease progression.</a:t>
            </a:r>
          </a:p>
        </p:txBody>
      </p:sp>
      <p:sp>
        <p:nvSpPr>
          <p:cNvPr id="1048609" name="Rounded Rectangle 3"/>
          <p:cNvSpPr/>
          <p:nvPr/>
        </p:nvSpPr>
        <p:spPr>
          <a:xfrm>
            <a:off x="731520" y="3337560"/>
            <a:ext cx="3337560" cy="1508760"/>
          </a:xfrm>
          <a:prstGeom prst="round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0" name="TextBox 4"/>
          <p:cNvSpPr txBox="1"/>
          <p:nvPr/>
        </p:nvSpPr>
        <p:spPr>
          <a:xfrm>
            <a:off x="896112" y="3586988"/>
            <a:ext cx="1405503" cy="269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200">
                <a:solidFill>
                  <a:srgbClr val="F2A384"/>
                </a:solidFill>
                <a:latin typeface="Aptos"/>
              </a:rPr>
              <a:t>PATIENT PROFILE</a:t>
            </a:r>
          </a:p>
        </p:txBody>
      </p:sp>
      <p:sp>
        <p:nvSpPr>
          <p:cNvPr id="1048611" name="TextBox 5"/>
          <p:cNvSpPr txBox="1"/>
          <p:nvPr/>
        </p:nvSpPr>
        <p:spPr>
          <a:xfrm>
            <a:off x="914400" y="4159504"/>
            <a:ext cx="1922780" cy="2946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400">
                <a:solidFill>
                  <a:srgbClr val="16432E"/>
                </a:solidFill>
                <a:latin typeface="Aptos"/>
              </a:rPr>
              <a:t>615 patients analysed</a:t>
            </a:r>
          </a:p>
        </p:txBody>
      </p:sp>
      <p:sp>
        <p:nvSpPr>
          <p:cNvPr id="1048612" name="Rounded Rectangle 6"/>
          <p:cNvSpPr/>
          <p:nvPr/>
        </p:nvSpPr>
        <p:spPr>
          <a:xfrm>
            <a:off x="4526280" y="3337560"/>
            <a:ext cx="3337560" cy="1508760"/>
          </a:xfrm>
          <a:prstGeom prst="round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3" name="TextBox 7"/>
          <p:cNvSpPr txBox="1"/>
          <p:nvPr/>
        </p:nvSpPr>
        <p:spPr>
          <a:xfrm>
            <a:off x="4690872" y="3586988"/>
            <a:ext cx="1192927" cy="269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200">
                <a:solidFill>
                  <a:srgbClr val="B7708F"/>
                </a:solidFill>
                <a:latin typeface="Aptos"/>
              </a:rPr>
              <a:t>RISK PATTERN</a:t>
            </a:r>
          </a:p>
        </p:txBody>
      </p:sp>
      <p:sp>
        <p:nvSpPr>
          <p:cNvPr id="1048614" name="TextBox 8"/>
          <p:cNvSpPr txBox="1"/>
          <p:nvPr/>
        </p:nvSpPr>
        <p:spPr>
          <a:xfrm>
            <a:off x="4709160" y="4079276"/>
            <a:ext cx="2980944" cy="523220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dirty="0" sz="1400">
                <a:solidFill>
                  <a:srgbClr val="16432E"/>
                </a:solidFill>
                <a:latin typeface="Aptos"/>
              </a:rPr>
              <a:t>Advanced disease concentrated in older adult</a:t>
            </a:r>
            <a:r>
              <a:rPr b="1" dirty="0" sz="1400" lang="en-US">
                <a:solidFill>
                  <a:srgbClr val="16432E"/>
                </a:solidFill>
                <a:latin typeface="Aptos"/>
              </a:rPr>
              <a:t> males</a:t>
            </a:r>
            <a:endParaRPr b="1" dirty="0" sz="1400">
              <a:solidFill>
                <a:srgbClr val="16432E"/>
              </a:solidFill>
              <a:latin typeface="Aptos"/>
            </a:endParaRPr>
          </a:p>
        </p:txBody>
      </p:sp>
      <p:sp>
        <p:nvSpPr>
          <p:cNvPr id="1048615" name="Rounded Rectangle 9"/>
          <p:cNvSpPr/>
          <p:nvPr/>
        </p:nvSpPr>
        <p:spPr>
          <a:xfrm>
            <a:off x="8321040" y="3337560"/>
            <a:ext cx="3337560" cy="1508760"/>
          </a:xfrm>
          <a:prstGeom prst="roundRect"/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</a:p>
        </p:txBody>
      </p:sp>
      <p:sp>
        <p:nvSpPr>
          <p:cNvPr id="1048616" name="TextBox 10"/>
          <p:cNvSpPr txBox="1"/>
          <p:nvPr/>
        </p:nvSpPr>
        <p:spPr>
          <a:xfrm>
            <a:off x="8485632" y="3586988"/>
            <a:ext cx="1100058" cy="2692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sz="1200">
                <a:solidFill>
                  <a:srgbClr val="F2A384"/>
                </a:solidFill>
                <a:latin typeface="Aptos"/>
              </a:rPr>
              <a:t>LAB SIGNALS</a:t>
            </a:r>
          </a:p>
        </p:txBody>
      </p:sp>
      <p:sp>
        <p:nvSpPr>
          <p:cNvPr id="1048617" name="TextBox 11"/>
          <p:cNvSpPr txBox="1"/>
          <p:nvPr/>
        </p:nvSpPr>
        <p:spPr>
          <a:xfrm>
            <a:off x="8503920" y="4176071"/>
            <a:ext cx="2956560" cy="307777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dirty="0" sz="1400">
                <a:solidFill>
                  <a:srgbClr val="16432E"/>
                </a:solidFill>
                <a:latin typeface="Aptos"/>
              </a:rPr>
              <a:t>ALB ↓  •  AST/BIL↑ in cirrhosis</a:t>
            </a:r>
          </a:p>
        </p:txBody>
      </p:sp>
      <p:sp>
        <p:nvSpPr>
          <p:cNvPr id="1048618" name="TextBox 12"/>
          <p:cNvSpPr txBox="1"/>
          <p:nvPr/>
        </p:nvSpPr>
        <p:spPr>
          <a:xfrm>
            <a:off x="1673497" y="5440679"/>
            <a:ext cx="9473474" cy="615553"/>
          </a:xfrm>
          <a:prstGeom prst="rect"/>
          <a:noFill/>
        </p:spPr>
        <p:txBody>
          <a:bodyPr anchor="ctr" wrap="square">
            <a:spAutoFit/>
          </a:bodyPr>
          <a:p>
            <a:pPr algn="ctr"/>
            <a:r>
              <a:rPr b="1" dirty="0" sz="1700">
                <a:solidFill>
                  <a:srgbClr val="FFFFFF"/>
                </a:solidFill>
                <a:latin typeface="Aptos"/>
              </a:rPr>
              <a:t>A data-driven dashboard can support targeted monitoring, timely intervention and clearer communication of population-level patterns.</a:t>
            </a:r>
          </a:p>
        </p:txBody>
      </p:sp>
      <p:sp>
        <p:nvSpPr>
          <p:cNvPr id="1048619" name="TextBox 13"/>
          <p:cNvSpPr txBox="1"/>
          <p:nvPr/>
        </p:nvSpPr>
        <p:spPr>
          <a:xfrm>
            <a:off x="4965192" y="6330551"/>
            <a:ext cx="1057791" cy="320040"/>
          </a:xfrm>
          <a:prstGeom prst="rect"/>
          <a:noFill/>
        </p:spPr>
        <p:txBody>
          <a:bodyPr anchor="ctr" wrap="none">
            <a:spAutoFit/>
          </a:bodyPr>
          <a:p>
            <a:pPr algn="ctr"/>
            <a:r>
              <a:rPr b="1" dirty="0" sz="1500">
                <a:solidFill>
                  <a:srgbClr val="F2A384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23053RN02A</dc:creator>
  <cp:lastModifiedBy>Administrator</cp:lastModifiedBy>
  <dcterms:created xsi:type="dcterms:W3CDTF">2013-01-27T03:14:16Z</dcterms:created>
  <dcterms:modified xsi:type="dcterms:W3CDTF">2026-09-06T20:03:15Z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4eca8badc474400a89e843dcff7b1c25</vt:lpwstr>
  </property>
</Properties>
</file>